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2"/>
  </p:notesMasterIdLst>
  <p:sldIdLst>
    <p:sldId id="256" r:id="rId2"/>
    <p:sldId id="305" r:id="rId3"/>
    <p:sldId id="275" r:id="rId4"/>
    <p:sldId id="283" r:id="rId5"/>
    <p:sldId id="277" r:id="rId6"/>
    <p:sldId id="291" r:id="rId7"/>
    <p:sldId id="276" r:id="rId8"/>
    <p:sldId id="292" r:id="rId9"/>
    <p:sldId id="282" r:id="rId10"/>
    <p:sldId id="293" r:id="rId11"/>
    <p:sldId id="289" r:id="rId12"/>
    <p:sldId id="294" r:id="rId13"/>
    <p:sldId id="290" r:id="rId14"/>
    <p:sldId id="295" r:id="rId15"/>
    <p:sldId id="278" r:id="rId16"/>
    <p:sldId id="298" r:id="rId17"/>
    <p:sldId id="280" r:id="rId18"/>
    <p:sldId id="299" r:id="rId19"/>
    <p:sldId id="281" r:id="rId20"/>
    <p:sldId id="300" r:id="rId21"/>
    <p:sldId id="296" r:id="rId22"/>
    <p:sldId id="301" r:id="rId23"/>
    <p:sldId id="297" r:id="rId24"/>
    <p:sldId id="284" r:id="rId25"/>
    <p:sldId id="285" r:id="rId26"/>
    <p:sldId id="302" r:id="rId27"/>
    <p:sldId id="286" r:id="rId28"/>
    <p:sldId id="303" r:id="rId29"/>
    <p:sldId id="287" r:id="rId30"/>
    <p:sldId id="306" r:id="rId3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132" autoAdjust="0"/>
    <p:restoredTop sz="94660"/>
  </p:normalViewPr>
  <p:slideViewPr>
    <p:cSldViewPr snapToGrid="0">
      <p:cViewPr varScale="1">
        <p:scale>
          <a:sx n="72" d="100"/>
          <a:sy n="72" d="100"/>
        </p:scale>
        <p:origin x="55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E99F1B-2878-4B2B-A629-7A54D9D78E8C}" type="datetimeFigureOut">
              <a:rPr lang="es-CO" smtClean="0"/>
              <a:t>31/10/2021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7B007C-003C-414C-929B-9B566EEDB70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637152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843ECF-C5F1-2E49-B37E-AA421D1E9B87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473784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843ECF-C5F1-2E49-B37E-AA421D1E9B87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776702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843ECF-C5F1-2E49-B37E-AA421D1E9B87}" type="slidenum">
              <a:rPr lang="es-ES" smtClean="0"/>
              <a:t>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285641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843ECF-C5F1-2E49-B37E-AA421D1E9B87}" type="slidenum">
              <a:rPr lang="es-ES" smtClean="0"/>
              <a:t>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178700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843ECF-C5F1-2E49-B37E-AA421D1E9B87}" type="slidenum">
              <a:rPr lang="es-ES" smtClean="0"/>
              <a:t>11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931122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843ECF-C5F1-2E49-B37E-AA421D1E9B87}" type="slidenum">
              <a:rPr lang="es-ES" smtClean="0"/>
              <a:t>13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179773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843ECF-C5F1-2E49-B37E-AA421D1E9B87}" type="slidenum">
              <a:rPr lang="es-ES" smtClean="0"/>
              <a:t>15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891407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843ECF-C5F1-2E49-B37E-AA421D1E9B87}" type="slidenum">
              <a:rPr lang="es-ES" smtClean="0"/>
              <a:t>17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936265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843ECF-C5F1-2E49-B37E-AA421D1E9B87}" type="slidenum">
              <a:rPr lang="es-ES" smtClean="0"/>
              <a:t>19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5498609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843ECF-C5F1-2E49-B37E-AA421D1E9B87}" type="slidenum">
              <a:rPr lang="es-ES" smtClean="0"/>
              <a:t>21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5543324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843ECF-C5F1-2E49-B37E-AA421D1E9B87}" type="slidenum">
              <a:rPr lang="es-ES" smtClean="0"/>
              <a:t>23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206828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BEE0F-D45E-4864-B816-0D2C9E8EF083}" type="datetimeFigureOut">
              <a:rPr lang="es-CO" smtClean="0"/>
              <a:t>31/10/2021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1509FDF2-CCF4-469B-A1E1-0566B3E46CA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437008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BEE0F-D45E-4864-B816-0D2C9E8EF083}" type="datetimeFigureOut">
              <a:rPr lang="es-CO" smtClean="0"/>
              <a:t>31/10/2021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9FDF2-CCF4-469B-A1E1-0566B3E46CA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649539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BEE0F-D45E-4864-B816-0D2C9E8EF083}" type="datetimeFigureOut">
              <a:rPr lang="es-CO" smtClean="0"/>
              <a:t>31/10/2021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1509FDF2-CCF4-469B-A1E1-0566B3E46CA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25966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BEE0F-D45E-4864-B816-0D2C9E8EF083}" type="datetimeFigureOut">
              <a:rPr lang="es-CO" smtClean="0"/>
              <a:t>31/10/2021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1509FDF2-CCF4-469B-A1E1-0566B3E46CA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704192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BEE0F-D45E-4864-B816-0D2C9E8EF083}" type="datetimeFigureOut">
              <a:rPr lang="es-CO" smtClean="0"/>
              <a:t>31/10/2021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1509FDF2-CCF4-469B-A1E1-0566B3E46CA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974707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BEE0F-D45E-4864-B816-0D2C9E8EF083}" type="datetimeFigureOut">
              <a:rPr lang="es-CO" smtClean="0"/>
              <a:t>31/10/2021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9FDF2-CCF4-469B-A1E1-0566B3E46CA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810551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BEE0F-D45E-4864-B816-0D2C9E8EF083}" type="datetimeFigureOut">
              <a:rPr lang="es-CO" smtClean="0"/>
              <a:t>31/10/2021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9FDF2-CCF4-469B-A1E1-0566B3E46CA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709445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BEE0F-D45E-4864-B816-0D2C9E8EF083}" type="datetimeFigureOut">
              <a:rPr lang="es-CO" smtClean="0"/>
              <a:t>31/10/2021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9FDF2-CCF4-469B-A1E1-0566B3E46CA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376049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BEE0F-D45E-4864-B816-0D2C9E8EF083}" type="datetimeFigureOut">
              <a:rPr lang="es-CO" smtClean="0"/>
              <a:t>31/10/2021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1509FDF2-CCF4-469B-A1E1-0566B3E46CA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928537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BEE0F-D45E-4864-B816-0D2C9E8EF083}" type="datetimeFigureOut">
              <a:rPr lang="es-CO" smtClean="0"/>
              <a:t>31/10/2021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1509FDF2-CCF4-469B-A1E1-0566B3E46CA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368742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BEE0F-D45E-4864-B816-0D2C9E8EF083}" type="datetimeFigureOut">
              <a:rPr lang="es-CO" smtClean="0"/>
              <a:t>31/10/2021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1509FDF2-CCF4-469B-A1E1-0566B3E46CA5}" type="slidenum">
              <a:rPr lang="es-CO" smtClean="0"/>
              <a:t>‹Nº›</a:t>
            </a:fld>
            <a:endParaRPr lang="es-CO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69982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BEE0F-D45E-4864-B816-0D2C9E8EF083}" type="datetimeFigureOut">
              <a:rPr lang="es-CO" smtClean="0"/>
              <a:t>31/10/2021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1509FDF2-CCF4-469B-A1E1-0566B3E46CA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504461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BEE0F-D45E-4864-B816-0D2C9E8EF083}" type="datetimeFigureOut">
              <a:rPr lang="es-CO" smtClean="0"/>
              <a:t>31/10/2021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1509FDF2-CCF4-469B-A1E1-0566B3E46CA5}" type="slidenum">
              <a:rPr lang="es-CO" smtClean="0"/>
              <a:t>‹Nº›</a:t>
            </a:fld>
            <a:endParaRPr lang="es-CO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655867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BEE0F-D45E-4864-B816-0D2C9E8EF083}" type="datetimeFigureOut">
              <a:rPr lang="es-CO" smtClean="0"/>
              <a:t>31/10/2021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1509FDF2-CCF4-469B-A1E1-0566B3E46CA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2197018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BEE0F-D45E-4864-B816-0D2C9E8EF083}" type="datetimeFigureOut">
              <a:rPr lang="es-CO" smtClean="0"/>
              <a:t>31/10/2021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9FDF2-CCF4-469B-A1E1-0566B3E46CA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104504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BEE0F-D45E-4864-B816-0D2C9E8EF083}" type="datetimeFigureOut">
              <a:rPr lang="es-CO" smtClean="0"/>
              <a:t>31/10/2021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9FDF2-CCF4-469B-A1E1-0566B3E46CA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259723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8BEE0F-D45E-4864-B816-0D2C9E8EF083}" type="datetimeFigureOut">
              <a:rPr lang="es-CO" smtClean="0"/>
              <a:t>31/10/2021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1509FDF2-CCF4-469B-A1E1-0566B3E46CA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095764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CDE5B5-69DF-418A-AF01-7013F0D6C7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3648" y="295896"/>
            <a:ext cx="9667085" cy="2262781"/>
          </a:xfrm>
        </p:spPr>
        <p:txBody>
          <a:bodyPr>
            <a:normAutofit/>
          </a:bodyPr>
          <a:lstStyle/>
          <a:p>
            <a:r>
              <a:rPr lang="es-CO" sz="3600" dirty="0"/>
              <a:t>Documentación y diagramas de secuencias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23B1F17-E07E-4429-B4C0-6A73F0D3F6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5492" y="2865858"/>
            <a:ext cx="8915399" cy="1126283"/>
          </a:xfrm>
        </p:spPr>
        <p:txBody>
          <a:bodyPr>
            <a:normAutofit lnSpcReduction="10000"/>
          </a:bodyPr>
          <a:lstStyle/>
          <a:p>
            <a:r>
              <a:rPr lang="es-CO" dirty="0"/>
              <a:t>ADSI-2254502</a:t>
            </a:r>
          </a:p>
          <a:p>
            <a:r>
              <a:rPr lang="es-CO" dirty="0"/>
              <a:t>Jazmín Patiño</a:t>
            </a:r>
          </a:p>
          <a:p>
            <a:r>
              <a:rPr lang="es-CO" dirty="0"/>
              <a:t>Angie Andrea Buitrago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1A87B46-38ED-454B-BA9E-CED01254682A}"/>
              </a:ext>
            </a:extLst>
          </p:cNvPr>
          <p:cNvSpPr txBox="1">
            <a:spLocks/>
          </p:cNvSpPr>
          <p:nvPr/>
        </p:nvSpPr>
        <p:spPr>
          <a:xfrm>
            <a:off x="433648" y="5030"/>
            <a:ext cx="5215466" cy="99342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54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s-CO" sz="4000" dirty="0"/>
              <a:t>GESTIONINVZ (GINZ)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DF898333-B379-42BB-AAC3-1B5B9C3AE5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996" y="162930"/>
            <a:ext cx="1264356" cy="1264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71367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a 6">
            <a:extLst>
              <a:ext uri="{FF2B5EF4-FFF2-40B4-BE49-F238E27FC236}">
                <a16:creationId xmlns:a16="http://schemas.microsoft.com/office/drawing/2014/main" id="{DC946412-78A3-48D8-8EE2-D62D8E60F0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1917574"/>
              </p:ext>
            </p:extLst>
          </p:nvPr>
        </p:nvGraphicFramePr>
        <p:xfrm>
          <a:off x="2032000" y="719666"/>
          <a:ext cx="8128000" cy="556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8000">
                  <a:extLst>
                    <a:ext uri="{9D8B030D-6E8A-4147-A177-3AD203B41FA5}">
                      <a16:colId xmlns:a16="http://schemas.microsoft.com/office/drawing/2014/main" val="30337126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dirty="0"/>
                        <a:t>TABLA DE CONTENIDO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3082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altLang="es-CO" sz="1800" b="1" dirty="0">
                          <a:solidFill>
                            <a:srgbClr val="FA9930"/>
                          </a:solidFill>
                          <a:latin typeface="+mn-lt"/>
                        </a:rPr>
                        <a:t>3. Módulo empleados-Registro</a:t>
                      </a:r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094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O" altLang="es-CO" sz="1800" b="1" dirty="0">
                          <a:solidFill>
                            <a:srgbClr val="FA9930"/>
                          </a:solidFill>
                          <a:latin typeface="+mn-lt"/>
                        </a:rPr>
                        <a:t>5. Módulo empleados-Inicio de sesión</a:t>
                      </a:r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57670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altLang="es-CO" sz="1800" b="1" dirty="0">
                          <a:solidFill>
                            <a:srgbClr val="FA9930"/>
                          </a:solidFill>
                          <a:latin typeface="+mn-lt"/>
                        </a:rPr>
                        <a:t>7. Módulo empleados-Reestablecer contraseña</a:t>
                      </a:r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20336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altLang="es-CO" sz="1800" b="1" dirty="0">
                          <a:solidFill>
                            <a:srgbClr val="FA9930"/>
                          </a:solidFill>
                          <a:latin typeface="+mn-lt"/>
                        </a:rPr>
                        <a:t>9. Módulo empleados-Eliminar usuario</a:t>
                      </a:r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56592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altLang="es-CO" sz="1800" b="1" dirty="0">
                          <a:solidFill>
                            <a:srgbClr val="FA9930"/>
                          </a:solidFill>
                          <a:latin typeface="+mn-lt"/>
                        </a:rPr>
                        <a:t>11. Módulo empleados-Modificar usuario</a:t>
                      </a:r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27564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altLang="es-CO" sz="1800" b="1" dirty="0">
                          <a:solidFill>
                            <a:srgbClr val="FA9930"/>
                          </a:solidFill>
                          <a:latin typeface="+mn-lt"/>
                        </a:rPr>
                        <a:t>13. Módulo empleados-Consultar usuario</a:t>
                      </a:r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61593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altLang="es-CO" sz="1800" b="1" dirty="0">
                          <a:solidFill>
                            <a:srgbClr val="FA9930"/>
                          </a:solidFill>
                          <a:latin typeface="+mn-lt"/>
                        </a:rPr>
                        <a:t>15. Módulo productos-Ingreso de productos</a:t>
                      </a:r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56813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altLang="es-CO" sz="1800" b="1" dirty="0">
                          <a:solidFill>
                            <a:srgbClr val="FA9930"/>
                          </a:solidFill>
                          <a:latin typeface="+mn-lt"/>
                        </a:rPr>
                        <a:t>17. Módulo productos-Modificar productos</a:t>
                      </a:r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73619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altLang="es-CO" sz="1800" b="1" dirty="0">
                          <a:solidFill>
                            <a:srgbClr val="FA9930"/>
                          </a:solidFill>
                          <a:latin typeface="+mn-lt"/>
                        </a:rPr>
                        <a:t>19. Módulo productos-Eliminar producto</a:t>
                      </a:r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59236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altLang="es-CO" sz="1800" b="1" dirty="0">
                          <a:solidFill>
                            <a:srgbClr val="FA9930"/>
                          </a:solidFill>
                          <a:latin typeface="+mn-lt"/>
                        </a:rPr>
                        <a:t>21. Módulo productos-Inhabilitar producto</a:t>
                      </a:r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83131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altLang="es-CO" sz="1800" b="1" dirty="0">
                          <a:solidFill>
                            <a:srgbClr val="FA9930"/>
                          </a:solidFill>
                          <a:latin typeface="+mn-lt"/>
                        </a:rPr>
                        <a:t>23. Módulo productos-Consulta producto</a:t>
                      </a:r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1878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altLang="es-CO" sz="1800" b="1" dirty="0">
                          <a:solidFill>
                            <a:srgbClr val="FA9930"/>
                          </a:solidFill>
                          <a:latin typeface="+mn-lt"/>
                        </a:rPr>
                        <a:t>25. Módulo productos-Gestión de inventario parte1 consulta</a:t>
                      </a:r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15704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O" altLang="es-CO" sz="1800" b="1" dirty="0">
                          <a:solidFill>
                            <a:srgbClr val="FA9930"/>
                          </a:solidFill>
                          <a:latin typeface="+mn-lt"/>
                        </a:rPr>
                        <a:t>27. Módulo productos-Gestión de inventario parte2 traslado</a:t>
                      </a:r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58136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O" altLang="es-CO" sz="1800" b="1" dirty="0">
                          <a:solidFill>
                            <a:srgbClr val="FA9930"/>
                          </a:solidFill>
                          <a:latin typeface="+mn-lt"/>
                        </a:rPr>
                        <a:t>29. Módulo </a:t>
                      </a:r>
                      <a:r>
                        <a:rPr lang="es-CO" altLang="es-CO" sz="1800" b="1" u="sng" dirty="0">
                          <a:solidFill>
                            <a:srgbClr val="FA9930"/>
                          </a:solidFill>
                          <a:latin typeface="+mn-lt"/>
                        </a:rPr>
                        <a:t>productos-Gestión</a:t>
                      </a:r>
                      <a:r>
                        <a:rPr lang="es-CO" altLang="es-CO" sz="1800" b="1" dirty="0">
                          <a:solidFill>
                            <a:srgbClr val="FA9930"/>
                          </a:solidFill>
                          <a:latin typeface="+mn-lt"/>
                        </a:rPr>
                        <a:t> de inventario parte2 salida.</a:t>
                      </a:r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11113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083969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5A40D602-8BCF-8F47-A377-DE9B48C8238E}"/>
              </a:ext>
            </a:extLst>
          </p:cNvPr>
          <p:cNvSpPr txBox="1">
            <a:spLocks noGrp="1"/>
          </p:cNvSpPr>
          <p:nvPr>
            <p:ph type="title"/>
          </p:nvPr>
        </p:nvSpPr>
        <p:spPr bwMode="auto">
          <a:xfrm>
            <a:off x="4101245" y="0"/>
            <a:ext cx="3989510" cy="575207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defRPr/>
            </a:pPr>
            <a:r>
              <a:rPr lang="es-CO" altLang="es-CO" sz="2800" b="1" dirty="0">
                <a:solidFill>
                  <a:srgbClr val="FA9930"/>
                </a:solidFill>
                <a:latin typeface="+mn-lt"/>
              </a:rPr>
              <a:t>Módulo empleados</a:t>
            </a: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CF304E08-0840-6C4D-B809-1736BD1585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0774837"/>
              </p:ext>
            </p:extLst>
          </p:nvPr>
        </p:nvGraphicFramePr>
        <p:xfrm>
          <a:off x="3376552" y="938152"/>
          <a:ext cx="5343895" cy="4429416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658125">
                  <a:extLst>
                    <a:ext uri="{9D8B030D-6E8A-4147-A177-3AD203B41FA5}">
                      <a16:colId xmlns:a16="http://schemas.microsoft.com/office/drawing/2014/main" val="3120827593"/>
                    </a:ext>
                  </a:extLst>
                </a:gridCol>
                <a:gridCol w="2342885">
                  <a:extLst>
                    <a:ext uri="{9D8B030D-6E8A-4147-A177-3AD203B41FA5}">
                      <a16:colId xmlns:a16="http://schemas.microsoft.com/office/drawing/2014/main" val="3560936693"/>
                    </a:ext>
                  </a:extLst>
                </a:gridCol>
                <a:gridCol w="2342885">
                  <a:extLst>
                    <a:ext uri="{9D8B030D-6E8A-4147-A177-3AD203B41FA5}">
                      <a16:colId xmlns:a16="http://schemas.microsoft.com/office/drawing/2014/main" val="3680774726"/>
                    </a:ext>
                  </a:extLst>
                </a:gridCol>
              </a:tblGrid>
              <a:tr h="288220">
                <a:tc>
                  <a:txBody>
                    <a:bodyPr/>
                    <a:lstStyle/>
                    <a:p>
                      <a:pPr marL="34925">
                        <a:lnSpc>
                          <a:spcPts val="965"/>
                        </a:lnSpc>
                      </a:pPr>
                      <a:r>
                        <a:rPr lang="es-CO" sz="800">
                          <a:effectLst/>
                        </a:rPr>
                        <a:t>Casos de Uso</a:t>
                      </a:r>
                      <a:endParaRPr lang="es-CO" sz="9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019175">
                        <a:lnSpc>
                          <a:spcPts val="965"/>
                        </a:lnSpc>
                      </a:pPr>
                      <a:r>
                        <a:rPr lang="es-CO" sz="800" dirty="0">
                          <a:effectLst/>
                        </a:rPr>
                        <a:t>   </a:t>
                      </a:r>
                    </a:p>
                    <a:p>
                      <a:pPr marL="1019175">
                        <a:lnSpc>
                          <a:spcPts val="965"/>
                        </a:lnSpc>
                      </a:pPr>
                      <a:r>
                        <a:rPr lang="es-CO" sz="800" dirty="0">
                          <a:effectLst/>
                        </a:rPr>
                        <a:t>                                  Registro</a:t>
                      </a:r>
                      <a:endParaRPr lang="es-CO" sz="9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569667"/>
                  </a:ext>
                </a:extLst>
              </a:tr>
              <a:tr h="468018">
                <a:tc>
                  <a:txBody>
                    <a:bodyPr/>
                    <a:lstStyle/>
                    <a:p>
                      <a:pPr marL="9525">
                        <a:spcBef>
                          <a:spcPts val="105"/>
                        </a:spcBef>
                        <a:spcAft>
                          <a:spcPts val="0"/>
                        </a:spcAft>
                      </a:pPr>
                      <a:endParaRPr lang="es-CO" sz="800" dirty="0">
                        <a:effectLst/>
                      </a:endParaRPr>
                    </a:p>
                    <a:p>
                      <a:pPr marL="9525">
                        <a:spcBef>
                          <a:spcPts val="105"/>
                        </a:spcBef>
                        <a:spcAft>
                          <a:spcPts val="0"/>
                        </a:spcAft>
                      </a:pPr>
                      <a:r>
                        <a:rPr lang="es-CO" sz="800" dirty="0">
                          <a:effectLst/>
                        </a:rPr>
                        <a:t>Descripción</a:t>
                      </a:r>
                      <a:endParaRPr lang="es-CO" sz="9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69215" marR="60325" algn="just">
                        <a:lnSpc>
                          <a:spcPct val="90000"/>
                        </a:lnSpc>
                        <a:spcBef>
                          <a:spcPts val="185"/>
                        </a:spcBef>
                        <a:spcAft>
                          <a:spcPts val="0"/>
                        </a:spcAft>
                      </a:pPr>
                      <a:endParaRPr lang="es-CO" sz="800" dirty="0">
                        <a:effectLst/>
                      </a:endParaRPr>
                    </a:p>
                    <a:p>
                      <a:pPr marL="69215" marR="60325" algn="just">
                        <a:lnSpc>
                          <a:spcPct val="90000"/>
                        </a:lnSpc>
                        <a:spcBef>
                          <a:spcPts val="185"/>
                        </a:spcBef>
                        <a:spcAft>
                          <a:spcPts val="0"/>
                        </a:spcAft>
                      </a:pPr>
                      <a:r>
                        <a:rPr lang="es-CO" sz="800" dirty="0">
                          <a:effectLst/>
                        </a:rPr>
                        <a:t>El sistema debe permitir al administrador la creación de usuario</a:t>
                      </a: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6538039"/>
                  </a:ext>
                </a:extLst>
              </a:tr>
              <a:tr h="375116">
                <a:tc>
                  <a:txBody>
                    <a:bodyPr/>
                    <a:lstStyle/>
                    <a:p>
                      <a:pPr>
                        <a:spcBef>
                          <a:spcPts val="565"/>
                        </a:spcBef>
                        <a:spcAft>
                          <a:spcPts val="0"/>
                        </a:spcAft>
                      </a:pPr>
                      <a:r>
                        <a:rPr lang="es-CO" sz="800">
                          <a:effectLst/>
                        </a:rPr>
                        <a:t>Precondición</a:t>
                      </a:r>
                      <a:endParaRPr lang="es-CO" sz="9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69215" marR="2540">
                        <a:lnSpc>
                          <a:spcPct val="90000"/>
                        </a:lnSpc>
                        <a:spcBef>
                          <a:spcPts val="255"/>
                        </a:spcBef>
                        <a:spcAft>
                          <a:spcPts val="0"/>
                        </a:spcAft>
                      </a:pPr>
                      <a:r>
                        <a:rPr lang="es-CO" sz="800" dirty="0">
                          <a:effectLst/>
                        </a:rPr>
                        <a:t>El usuario no debe estar registrado en el sistema</a:t>
                      </a:r>
                      <a:endParaRPr lang="es-CO" sz="9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8533601"/>
                  </a:ext>
                </a:extLst>
              </a:tr>
              <a:tr h="175287">
                <a:tc rowSpan="5">
                  <a:txBody>
                    <a:bodyPr/>
                    <a:lstStyle/>
                    <a:p>
                      <a:pPr marL="41275">
                        <a:lnSpc>
                          <a:spcPts val="925"/>
                        </a:lnSpc>
                      </a:pPr>
                      <a:r>
                        <a:rPr lang="es-CO" sz="800" dirty="0">
                          <a:effectLst/>
                        </a:rPr>
                        <a:t>Secuencia</a:t>
                      </a:r>
                      <a:endParaRPr lang="es-CO" sz="900" dirty="0">
                        <a:effectLst/>
                      </a:endParaRPr>
                    </a:p>
                    <a:p>
                      <a:pPr marL="80645">
                        <a:spcBef>
                          <a:spcPts val="80"/>
                        </a:spcBef>
                        <a:spcAft>
                          <a:spcPts val="0"/>
                        </a:spcAft>
                      </a:pPr>
                      <a:r>
                        <a:rPr lang="es-CO" sz="800" dirty="0">
                          <a:effectLst/>
                        </a:rPr>
                        <a:t>Normal</a:t>
                      </a:r>
                      <a:endParaRPr lang="es-CO" sz="9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845"/>
                        </a:lnSpc>
                      </a:pPr>
                      <a:r>
                        <a:rPr lang="es-CO" sz="700" spc="-20" dirty="0">
                          <a:effectLst/>
                        </a:rPr>
                        <a:t>Paso</a:t>
                      </a:r>
                      <a:endParaRPr lang="es-CO" sz="9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ts val="845"/>
                        </a:lnSpc>
                      </a:pPr>
                      <a:r>
                        <a:rPr lang="es-CO" sz="700">
                          <a:effectLst/>
                        </a:rPr>
                        <a:t>Acción</a:t>
                      </a:r>
                      <a:endParaRPr lang="es-CO" sz="9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715582348"/>
                  </a:ext>
                </a:extLst>
              </a:tr>
              <a:tr h="283496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3355" algn="ctr">
                        <a:lnSpc>
                          <a:spcPts val="960"/>
                        </a:lnSpc>
                      </a:pPr>
                      <a:r>
                        <a:rPr lang="es-CO" sz="700" dirty="0">
                          <a:effectLst/>
                        </a:rPr>
                        <a:t>1</a:t>
                      </a:r>
                      <a:endParaRPr lang="es-CO" sz="9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42545">
                        <a:spcBef>
                          <a:spcPts val="45"/>
                        </a:spcBef>
                        <a:spcAft>
                          <a:spcPts val="0"/>
                        </a:spcAft>
                      </a:pPr>
                      <a:r>
                        <a:rPr lang="es-CO" sz="800" dirty="0">
                          <a:effectLst/>
                        </a:rPr>
                        <a:t> El administrador da clic al botón registrar usuario </a:t>
                      </a:r>
                      <a:endParaRPr lang="es-CO" sz="900" dirty="0">
                        <a:effectLst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774530266"/>
                  </a:ext>
                </a:extLst>
              </a:tr>
              <a:tr h="482624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30"/>
                        </a:spcBef>
                      </a:pPr>
                      <a:r>
                        <a:rPr lang="es-CO" sz="700" dirty="0">
                          <a:effectLst/>
                        </a:rPr>
                        <a:t> </a:t>
                      </a:r>
                      <a:endParaRPr lang="es-CO" sz="900" dirty="0">
                        <a:effectLst/>
                      </a:endParaRPr>
                    </a:p>
                    <a:p>
                      <a:pPr marL="173355" algn="ctr"/>
                      <a:r>
                        <a:rPr lang="es-CO" sz="700" dirty="0">
                          <a:effectLst/>
                        </a:rPr>
                        <a:t>2</a:t>
                      </a:r>
                      <a:endParaRPr lang="es-CO" sz="9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42545" marR="40640" algn="just">
                        <a:lnSpc>
                          <a:spcPct val="92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s-CO" sz="800" dirty="0">
                          <a:effectLst/>
                        </a:rPr>
                        <a:t>El sistema le muestra un formulario al administrador con los campos : Nombres, apellido, número de cédula, cargo, número de teléfono, correo electrónico, contraseña y confirmar contraseña</a:t>
                      </a:r>
                      <a:endParaRPr lang="es-CO" sz="9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186590003"/>
                  </a:ext>
                </a:extLst>
              </a:tr>
              <a:tr h="420665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3355" algn="ctr">
                        <a:lnSpc>
                          <a:spcPts val="1075"/>
                        </a:lnSpc>
                      </a:pPr>
                      <a:r>
                        <a:rPr lang="es-CO" sz="700" dirty="0">
                          <a:effectLst/>
                        </a:rPr>
                        <a:t>3</a:t>
                      </a:r>
                      <a:endParaRPr lang="es-CO" sz="9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42545">
                        <a:lnSpc>
                          <a:spcPct val="92000"/>
                        </a:lnSpc>
                        <a:spcBef>
                          <a:spcPts val="130"/>
                        </a:spcBef>
                        <a:spcAft>
                          <a:spcPts val="0"/>
                        </a:spcAft>
                      </a:pPr>
                      <a:r>
                        <a:rPr lang="es-CO" sz="800" dirty="0">
                          <a:effectLst/>
                        </a:rPr>
                        <a:t> </a:t>
                      </a:r>
                      <a:endParaRPr lang="es-CO" sz="900" dirty="0">
                        <a:effectLst/>
                      </a:endParaRPr>
                    </a:p>
                    <a:p>
                      <a:pPr marL="42545">
                        <a:lnSpc>
                          <a:spcPct val="92000"/>
                        </a:lnSpc>
                        <a:spcBef>
                          <a:spcPts val="130"/>
                        </a:spcBef>
                        <a:spcAft>
                          <a:spcPts val="0"/>
                        </a:spcAft>
                      </a:pPr>
                      <a:r>
                        <a:rPr lang="es-CO" sz="800" dirty="0">
                          <a:effectLst/>
                        </a:rPr>
                        <a:t> El administrador llena el formulario y le da clic al botón guardar </a:t>
                      </a:r>
                      <a:endParaRPr lang="es-CO" sz="9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216119899"/>
                  </a:ext>
                </a:extLst>
              </a:tr>
              <a:tr h="479727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45"/>
                        </a:spcBef>
                      </a:pPr>
                      <a:r>
                        <a:rPr lang="es-CO" sz="1000" dirty="0">
                          <a:effectLst/>
                        </a:rPr>
                        <a:t> </a:t>
                      </a:r>
                      <a:endParaRPr lang="es-CO" sz="900" dirty="0">
                        <a:effectLst/>
                      </a:endParaRPr>
                    </a:p>
                    <a:p>
                      <a:pPr marL="173355" algn="ctr">
                        <a:spcBef>
                          <a:spcPts val="5"/>
                        </a:spcBef>
                        <a:spcAft>
                          <a:spcPts val="0"/>
                        </a:spcAft>
                      </a:pPr>
                      <a:r>
                        <a:rPr lang="es-CO" sz="700" dirty="0">
                          <a:effectLst/>
                        </a:rPr>
                        <a:t>4</a:t>
                      </a:r>
                      <a:endParaRPr lang="es-CO" sz="9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42545" marR="32385" algn="just">
                        <a:lnSpc>
                          <a:spcPct val="92000"/>
                        </a:lnSpc>
                        <a:spcBef>
                          <a:spcPts val="265"/>
                        </a:spcBef>
                        <a:spcAft>
                          <a:spcPts val="0"/>
                        </a:spcAft>
                      </a:pPr>
                      <a:r>
                        <a:rPr lang="es-CO" sz="800" dirty="0">
                          <a:effectLst/>
                        </a:rPr>
                        <a:t> El sistema guarda la información en una base de datos y muestra un mensaje de “El usuario ha sido creado con éxito”</a:t>
                      </a:r>
                      <a:endParaRPr lang="es-CO" sz="9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681091914"/>
                  </a:ext>
                </a:extLst>
              </a:tr>
              <a:tr h="399655">
                <a:tc>
                  <a:txBody>
                    <a:bodyPr/>
                    <a:lstStyle/>
                    <a:p>
                      <a:pPr marL="67310">
                        <a:spcBef>
                          <a:spcPts val="265"/>
                        </a:spcBef>
                        <a:spcAft>
                          <a:spcPts val="0"/>
                        </a:spcAft>
                      </a:pPr>
                      <a:r>
                        <a:rPr lang="es-CO" sz="800">
                          <a:effectLst/>
                        </a:rPr>
                        <a:t>Post Condición</a:t>
                      </a:r>
                      <a:endParaRPr lang="es-CO" sz="9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52705">
                        <a:lnSpc>
                          <a:spcPct val="92000"/>
                        </a:lnSpc>
                        <a:spcBef>
                          <a:spcPts val="15"/>
                        </a:spcBef>
                        <a:spcAft>
                          <a:spcPts val="0"/>
                        </a:spcAft>
                      </a:pPr>
                      <a:r>
                        <a:rPr lang="es-CO" sz="800" dirty="0">
                          <a:effectLst/>
                        </a:rPr>
                        <a:t> </a:t>
                      </a:r>
                      <a:endParaRPr lang="es-CO" sz="900" dirty="0">
                        <a:effectLst/>
                      </a:endParaRPr>
                    </a:p>
                    <a:p>
                      <a:pPr marL="52705">
                        <a:lnSpc>
                          <a:spcPct val="92000"/>
                        </a:lnSpc>
                        <a:spcBef>
                          <a:spcPts val="15"/>
                        </a:spcBef>
                        <a:spcAft>
                          <a:spcPts val="0"/>
                        </a:spcAft>
                      </a:pPr>
                      <a:r>
                        <a:rPr lang="es-CO" sz="800" dirty="0">
                          <a:effectLst/>
                        </a:rPr>
                        <a:t>El usuario queda registrado en el sistema</a:t>
                      </a:r>
                      <a:endParaRPr lang="es-CO" sz="9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6203859"/>
                  </a:ext>
                </a:extLst>
              </a:tr>
              <a:tr h="188142">
                <a:tc rowSpan="2">
                  <a:txBody>
                    <a:bodyPr/>
                    <a:lstStyle/>
                    <a:p>
                      <a:pPr marL="41275">
                        <a:lnSpc>
                          <a:spcPts val="1025"/>
                        </a:lnSpc>
                      </a:pPr>
                      <a:r>
                        <a:rPr lang="es-CO" sz="800" dirty="0">
                          <a:effectLst/>
                        </a:rPr>
                        <a:t>Excepciones</a:t>
                      </a:r>
                      <a:endParaRPr lang="es-CO" sz="9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945"/>
                        </a:lnSpc>
                      </a:pPr>
                      <a:r>
                        <a:rPr lang="es-CO" sz="700" spc="-20" dirty="0">
                          <a:effectLst/>
                        </a:rPr>
                        <a:t>Paso</a:t>
                      </a:r>
                      <a:endParaRPr lang="es-CO" sz="9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945"/>
                        </a:lnSpc>
                      </a:pPr>
                      <a:r>
                        <a:rPr lang="es-CO" sz="700" dirty="0">
                          <a:effectLst/>
                        </a:rPr>
                        <a:t> </a:t>
                      </a:r>
                      <a:endParaRPr lang="es-CO" sz="9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2581952"/>
                  </a:ext>
                </a:extLst>
              </a:tr>
              <a:tr h="472567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60"/>
                        </a:spcBef>
                      </a:pPr>
                      <a:r>
                        <a:rPr lang="es-CO" sz="1100" dirty="0">
                          <a:effectLst/>
                        </a:rPr>
                        <a:t> </a:t>
                      </a:r>
                      <a:endParaRPr lang="es-CO" sz="900" dirty="0">
                        <a:effectLst/>
                      </a:endParaRPr>
                    </a:p>
                    <a:p>
                      <a:pPr marL="168275" algn="ctr"/>
                      <a:r>
                        <a:rPr lang="es-CO" sz="7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4</a:t>
                      </a:r>
                      <a:endParaRPr lang="es-CO" sz="9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6990" marR="38735" algn="just">
                        <a:lnSpc>
                          <a:spcPct val="106000"/>
                        </a:lnSpc>
                        <a:spcBef>
                          <a:spcPts val="95"/>
                        </a:spcBef>
                        <a:spcAft>
                          <a:spcPts val="0"/>
                        </a:spcAft>
                      </a:pPr>
                      <a:r>
                        <a:rPr lang="es-CO" sz="800" dirty="0">
                          <a:effectLst/>
                        </a:rPr>
                        <a:t> </a:t>
                      </a:r>
                      <a:endParaRPr lang="es-CO" sz="900" dirty="0">
                        <a:effectLst/>
                      </a:endParaRPr>
                    </a:p>
                    <a:p>
                      <a:pPr marL="46990" marR="38735" algn="just">
                        <a:lnSpc>
                          <a:spcPct val="106000"/>
                        </a:lnSpc>
                        <a:spcBef>
                          <a:spcPts val="95"/>
                        </a:spcBef>
                        <a:spcAft>
                          <a:spcPts val="0"/>
                        </a:spcAft>
                      </a:pPr>
                      <a:r>
                        <a:rPr lang="es-CO" sz="800" dirty="0">
                          <a:effectLst/>
                        </a:rPr>
                        <a:t> Si alguno de los campos no ha sido llenado el sistema mostrara un mensaje que diga “No puede continuar, por favor llene todos los datos”</a:t>
                      </a:r>
                      <a:endParaRPr lang="es-CO" sz="900" dirty="0">
                        <a:effectLst/>
                      </a:endParaRPr>
                    </a:p>
                    <a:p>
                      <a:pPr marL="46990" marR="38735" algn="just">
                        <a:lnSpc>
                          <a:spcPct val="106000"/>
                        </a:lnSpc>
                        <a:spcBef>
                          <a:spcPts val="95"/>
                        </a:spcBef>
                        <a:spcAft>
                          <a:spcPts val="0"/>
                        </a:spcAft>
                      </a:pPr>
                      <a:r>
                        <a:rPr lang="es-CO" sz="800" dirty="0">
                          <a:effectLst/>
                        </a:rPr>
                        <a:t> </a:t>
                      </a:r>
                      <a:endParaRPr lang="es-CO" sz="9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0950022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827682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6EECDBD8-676A-4B03-9C68-E99D52AD9E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2399" y="551400"/>
            <a:ext cx="9367201" cy="5755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40723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CF304E08-0840-6C4D-B809-1736BD1585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9749358"/>
              </p:ext>
            </p:extLst>
          </p:nvPr>
        </p:nvGraphicFramePr>
        <p:xfrm>
          <a:off x="3376552" y="938152"/>
          <a:ext cx="5343895" cy="4236019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658125">
                  <a:extLst>
                    <a:ext uri="{9D8B030D-6E8A-4147-A177-3AD203B41FA5}">
                      <a16:colId xmlns:a16="http://schemas.microsoft.com/office/drawing/2014/main" val="3120827593"/>
                    </a:ext>
                  </a:extLst>
                </a:gridCol>
                <a:gridCol w="2342885">
                  <a:extLst>
                    <a:ext uri="{9D8B030D-6E8A-4147-A177-3AD203B41FA5}">
                      <a16:colId xmlns:a16="http://schemas.microsoft.com/office/drawing/2014/main" val="3560936693"/>
                    </a:ext>
                  </a:extLst>
                </a:gridCol>
                <a:gridCol w="2342885">
                  <a:extLst>
                    <a:ext uri="{9D8B030D-6E8A-4147-A177-3AD203B41FA5}">
                      <a16:colId xmlns:a16="http://schemas.microsoft.com/office/drawing/2014/main" val="3680774726"/>
                    </a:ext>
                  </a:extLst>
                </a:gridCol>
              </a:tblGrid>
              <a:tr h="288220">
                <a:tc>
                  <a:txBody>
                    <a:bodyPr/>
                    <a:lstStyle/>
                    <a:p>
                      <a:pPr marL="34925">
                        <a:lnSpc>
                          <a:spcPts val="965"/>
                        </a:lnSpc>
                      </a:pPr>
                      <a:r>
                        <a:rPr lang="es-CO" sz="800">
                          <a:effectLst/>
                        </a:rPr>
                        <a:t>Casos de Uso</a:t>
                      </a:r>
                      <a:endParaRPr lang="es-CO" sz="9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019175">
                        <a:lnSpc>
                          <a:spcPts val="965"/>
                        </a:lnSpc>
                      </a:pPr>
                      <a:r>
                        <a:rPr lang="es-CO" sz="800" dirty="0">
                          <a:effectLst/>
                        </a:rPr>
                        <a:t>                        Inicio de sesión</a:t>
                      </a: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569667"/>
                  </a:ext>
                </a:extLst>
              </a:tr>
              <a:tr h="468018">
                <a:tc>
                  <a:txBody>
                    <a:bodyPr/>
                    <a:lstStyle/>
                    <a:p>
                      <a:pPr marL="9525">
                        <a:spcBef>
                          <a:spcPts val="105"/>
                        </a:spcBef>
                        <a:spcAft>
                          <a:spcPts val="0"/>
                        </a:spcAft>
                      </a:pPr>
                      <a:endParaRPr lang="es-CO" sz="800" dirty="0">
                        <a:effectLst/>
                      </a:endParaRPr>
                    </a:p>
                    <a:p>
                      <a:pPr marL="9525">
                        <a:spcBef>
                          <a:spcPts val="105"/>
                        </a:spcBef>
                        <a:spcAft>
                          <a:spcPts val="0"/>
                        </a:spcAft>
                      </a:pPr>
                      <a:r>
                        <a:rPr lang="es-CO" sz="800" dirty="0">
                          <a:effectLst/>
                        </a:rPr>
                        <a:t>Descripción</a:t>
                      </a:r>
                      <a:endParaRPr lang="es-CO" sz="9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69215" marR="60325" algn="just">
                        <a:lnSpc>
                          <a:spcPct val="90000"/>
                        </a:lnSpc>
                        <a:spcBef>
                          <a:spcPts val="185"/>
                        </a:spcBef>
                        <a:spcAft>
                          <a:spcPts val="0"/>
                        </a:spcAft>
                      </a:pPr>
                      <a:endParaRPr lang="es-CO" sz="800" dirty="0">
                        <a:effectLst/>
                      </a:endParaRPr>
                    </a:p>
                    <a:p>
                      <a:pPr marL="69215" marR="60325" algn="just">
                        <a:lnSpc>
                          <a:spcPct val="90000"/>
                        </a:lnSpc>
                        <a:spcBef>
                          <a:spcPts val="185"/>
                        </a:spcBef>
                        <a:spcAft>
                          <a:spcPts val="0"/>
                        </a:spcAft>
                      </a:pPr>
                      <a:r>
                        <a:rPr lang="es-CO" sz="800" dirty="0">
                          <a:effectLst/>
                        </a:rPr>
                        <a:t>El sistema debe permitir </a:t>
                      </a:r>
                      <a:r>
                        <a:rPr lang="es-CO" sz="800" dirty="0" err="1">
                          <a:effectLst/>
                        </a:rPr>
                        <a:t>logear</a:t>
                      </a:r>
                      <a:r>
                        <a:rPr lang="es-CO" sz="800" dirty="0">
                          <a:effectLst/>
                        </a:rPr>
                        <a:t> a un usuario dentro del sistema</a:t>
                      </a: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6538039"/>
                  </a:ext>
                </a:extLst>
              </a:tr>
              <a:tr h="375116">
                <a:tc>
                  <a:txBody>
                    <a:bodyPr/>
                    <a:lstStyle/>
                    <a:p>
                      <a:pPr>
                        <a:spcBef>
                          <a:spcPts val="565"/>
                        </a:spcBef>
                        <a:spcAft>
                          <a:spcPts val="0"/>
                        </a:spcAft>
                      </a:pPr>
                      <a:r>
                        <a:rPr lang="es-CO" sz="800">
                          <a:effectLst/>
                        </a:rPr>
                        <a:t>Precondición</a:t>
                      </a:r>
                      <a:endParaRPr lang="es-CO" sz="9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69215" marR="2540">
                        <a:lnSpc>
                          <a:spcPct val="90000"/>
                        </a:lnSpc>
                        <a:spcBef>
                          <a:spcPts val="255"/>
                        </a:spcBef>
                        <a:spcAft>
                          <a:spcPts val="0"/>
                        </a:spcAft>
                      </a:pPr>
                      <a:r>
                        <a:rPr lang="es-CO" sz="800" dirty="0">
                          <a:effectLst/>
                        </a:rPr>
                        <a:t>El usuario debe estar registrado en el sistema</a:t>
                      </a:r>
                      <a:endParaRPr lang="es-CO" sz="9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8533601"/>
                  </a:ext>
                </a:extLst>
              </a:tr>
              <a:tr h="175287">
                <a:tc rowSpan="5">
                  <a:txBody>
                    <a:bodyPr/>
                    <a:lstStyle/>
                    <a:p>
                      <a:pPr marL="41275">
                        <a:lnSpc>
                          <a:spcPts val="925"/>
                        </a:lnSpc>
                      </a:pPr>
                      <a:r>
                        <a:rPr lang="es-CO" sz="800" dirty="0">
                          <a:effectLst/>
                        </a:rPr>
                        <a:t>Secuencia</a:t>
                      </a:r>
                      <a:endParaRPr lang="es-CO" sz="900" dirty="0">
                        <a:effectLst/>
                      </a:endParaRPr>
                    </a:p>
                    <a:p>
                      <a:pPr marL="80645">
                        <a:spcBef>
                          <a:spcPts val="80"/>
                        </a:spcBef>
                        <a:spcAft>
                          <a:spcPts val="0"/>
                        </a:spcAft>
                      </a:pPr>
                      <a:r>
                        <a:rPr lang="es-CO" sz="800" dirty="0">
                          <a:effectLst/>
                        </a:rPr>
                        <a:t>Normal</a:t>
                      </a:r>
                      <a:endParaRPr lang="es-CO" sz="9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845"/>
                        </a:lnSpc>
                      </a:pPr>
                      <a:r>
                        <a:rPr lang="es-CO" sz="700" spc="-20" dirty="0">
                          <a:effectLst/>
                        </a:rPr>
                        <a:t>Paso</a:t>
                      </a:r>
                      <a:endParaRPr lang="es-CO" sz="9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ts val="845"/>
                        </a:lnSpc>
                      </a:pPr>
                      <a:r>
                        <a:rPr lang="es-CO" sz="700">
                          <a:effectLst/>
                        </a:rPr>
                        <a:t>Acción</a:t>
                      </a:r>
                      <a:endParaRPr lang="es-CO" sz="9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715582348"/>
                  </a:ext>
                </a:extLst>
              </a:tr>
              <a:tr h="283496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3355" algn="ctr">
                        <a:lnSpc>
                          <a:spcPts val="960"/>
                        </a:lnSpc>
                      </a:pPr>
                      <a:r>
                        <a:rPr lang="es-CO" sz="700" dirty="0">
                          <a:effectLst/>
                        </a:rPr>
                        <a:t>1</a:t>
                      </a:r>
                      <a:endParaRPr lang="es-CO" sz="9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42545">
                        <a:spcBef>
                          <a:spcPts val="45"/>
                        </a:spcBef>
                        <a:spcAft>
                          <a:spcPts val="0"/>
                        </a:spcAft>
                      </a:pPr>
                      <a:r>
                        <a:rPr lang="es-CO" sz="800" dirty="0">
                          <a:effectLst/>
                        </a:rPr>
                        <a:t>El sistema muestra dos campos de “Usuario” y “Contraseña</a:t>
                      </a:r>
                      <a:endParaRPr lang="es-CO" sz="900" dirty="0">
                        <a:effectLst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774530266"/>
                  </a:ext>
                </a:extLst>
              </a:tr>
              <a:tr h="482624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30"/>
                        </a:spcBef>
                      </a:pPr>
                      <a:r>
                        <a:rPr lang="es-CO" sz="700" dirty="0">
                          <a:effectLst/>
                        </a:rPr>
                        <a:t> </a:t>
                      </a:r>
                      <a:endParaRPr lang="es-CO" sz="900" dirty="0">
                        <a:effectLst/>
                      </a:endParaRPr>
                    </a:p>
                    <a:p>
                      <a:pPr marL="173355" algn="ctr"/>
                      <a:r>
                        <a:rPr lang="es-CO" sz="700" dirty="0">
                          <a:effectLst/>
                        </a:rPr>
                        <a:t>2</a:t>
                      </a:r>
                      <a:endParaRPr lang="es-CO" sz="9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42545" marR="40640" algn="just">
                        <a:lnSpc>
                          <a:spcPct val="92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s-CO" sz="800" dirty="0">
                          <a:effectLst/>
                        </a:rPr>
                        <a:t>El usuario llena los campos solicitados y da clic al botón </a:t>
                      </a:r>
                      <a:r>
                        <a:rPr lang="es-CO" sz="800" dirty="0" err="1">
                          <a:effectLst/>
                        </a:rPr>
                        <a:t>enter</a:t>
                      </a:r>
                      <a:endParaRPr lang="es-CO" sz="9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186590003"/>
                  </a:ext>
                </a:extLst>
              </a:tr>
              <a:tr h="420665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3355" algn="ctr">
                        <a:lnSpc>
                          <a:spcPts val="1075"/>
                        </a:lnSpc>
                      </a:pPr>
                      <a:r>
                        <a:rPr lang="es-CO" sz="700" dirty="0">
                          <a:effectLst/>
                        </a:rPr>
                        <a:t>3</a:t>
                      </a:r>
                      <a:endParaRPr lang="es-CO" sz="9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42545">
                        <a:lnSpc>
                          <a:spcPct val="92000"/>
                        </a:lnSpc>
                        <a:spcBef>
                          <a:spcPts val="130"/>
                        </a:spcBef>
                        <a:spcAft>
                          <a:spcPts val="0"/>
                        </a:spcAft>
                      </a:pPr>
                      <a:r>
                        <a:rPr lang="es-CO" sz="800" dirty="0">
                          <a:effectLst/>
                        </a:rPr>
                        <a:t> </a:t>
                      </a:r>
                      <a:endParaRPr lang="es-CO" sz="900" dirty="0">
                        <a:effectLst/>
                      </a:endParaRPr>
                    </a:p>
                    <a:p>
                      <a:pPr marL="42545">
                        <a:lnSpc>
                          <a:spcPct val="92000"/>
                        </a:lnSpc>
                        <a:spcBef>
                          <a:spcPts val="130"/>
                        </a:spcBef>
                        <a:spcAft>
                          <a:spcPts val="0"/>
                        </a:spcAft>
                      </a:pPr>
                      <a:r>
                        <a:rPr lang="es-CO" sz="800" dirty="0">
                          <a:effectLst/>
                        </a:rPr>
                        <a:t>El sistema verifica la información</a:t>
                      </a:r>
                      <a:endParaRPr lang="es-CO" sz="9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216119899"/>
                  </a:ext>
                </a:extLst>
              </a:tr>
              <a:tr h="479727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45"/>
                        </a:spcBef>
                      </a:pPr>
                      <a:r>
                        <a:rPr lang="es-CO" sz="1000" dirty="0">
                          <a:effectLst/>
                        </a:rPr>
                        <a:t> </a:t>
                      </a:r>
                      <a:endParaRPr lang="es-CO" sz="900" dirty="0">
                        <a:effectLst/>
                      </a:endParaRPr>
                    </a:p>
                    <a:p>
                      <a:pPr marL="173355" algn="ctr">
                        <a:spcBef>
                          <a:spcPts val="5"/>
                        </a:spcBef>
                        <a:spcAft>
                          <a:spcPts val="0"/>
                        </a:spcAft>
                      </a:pPr>
                      <a:r>
                        <a:rPr lang="es-CO" sz="700" dirty="0">
                          <a:effectLst/>
                        </a:rPr>
                        <a:t>4</a:t>
                      </a:r>
                      <a:endParaRPr lang="es-CO" sz="9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42545" marR="32385" algn="just">
                        <a:lnSpc>
                          <a:spcPct val="92000"/>
                        </a:lnSpc>
                        <a:spcBef>
                          <a:spcPts val="265"/>
                        </a:spcBef>
                        <a:spcAft>
                          <a:spcPts val="0"/>
                        </a:spcAft>
                      </a:pPr>
                      <a:r>
                        <a:rPr lang="es-CO" sz="800" dirty="0">
                          <a:effectLst/>
                        </a:rPr>
                        <a:t>El usuario ingresa al sistema</a:t>
                      </a:r>
                      <a:endParaRPr lang="es-CO" sz="9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681091914"/>
                  </a:ext>
                </a:extLst>
              </a:tr>
              <a:tr h="399655">
                <a:tc>
                  <a:txBody>
                    <a:bodyPr/>
                    <a:lstStyle/>
                    <a:p>
                      <a:pPr marL="67310">
                        <a:spcBef>
                          <a:spcPts val="265"/>
                        </a:spcBef>
                        <a:spcAft>
                          <a:spcPts val="0"/>
                        </a:spcAft>
                      </a:pPr>
                      <a:r>
                        <a:rPr lang="es-CO" sz="800">
                          <a:effectLst/>
                        </a:rPr>
                        <a:t>Post Condición</a:t>
                      </a:r>
                      <a:endParaRPr lang="es-CO" sz="9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52705">
                        <a:lnSpc>
                          <a:spcPct val="92000"/>
                        </a:lnSpc>
                        <a:spcBef>
                          <a:spcPts val="15"/>
                        </a:spcBef>
                        <a:spcAft>
                          <a:spcPts val="0"/>
                        </a:spcAft>
                      </a:pPr>
                      <a:r>
                        <a:rPr lang="es-CO" sz="800" dirty="0">
                          <a:effectLst/>
                        </a:rPr>
                        <a:t>La contraseña</a:t>
                      </a:r>
                      <a:endParaRPr lang="es-CO" sz="900" dirty="0">
                        <a:effectLst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6203859"/>
                  </a:ext>
                </a:extLst>
              </a:tr>
              <a:tr h="188142">
                <a:tc rowSpan="2">
                  <a:txBody>
                    <a:bodyPr/>
                    <a:lstStyle/>
                    <a:p>
                      <a:pPr marL="41275">
                        <a:lnSpc>
                          <a:spcPts val="1025"/>
                        </a:lnSpc>
                      </a:pPr>
                      <a:r>
                        <a:rPr lang="es-CO" sz="800" dirty="0">
                          <a:effectLst/>
                        </a:rPr>
                        <a:t>Excepciones</a:t>
                      </a:r>
                      <a:endParaRPr lang="es-CO" sz="9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945"/>
                        </a:lnSpc>
                      </a:pPr>
                      <a:r>
                        <a:rPr lang="es-CO" sz="700" spc="-20" dirty="0">
                          <a:effectLst/>
                        </a:rPr>
                        <a:t>Paso</a:t>
                      </a:r>
                      <a:endParaRPr lang="es-CO" sz="9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945"/>
                        </a:lnSpc>
                      </a:pPr>
                      <a:r>
                        <a:rPr lang="es-CO" sz="700" dirty="0">
                          <a:effectLst/>
                        </a:rPr>
                        <a:t> </a:t>
                      </a:r>
                      <a:endParaRPr lang="es-CO" sz="9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2581952"/>
                  </a:ext>
                </a:extLst>
              </a:tr>
              <a:tr h="472567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60"/>
                        </a:spcBef>
                      </a:pPr>
                      <a:r>
                        <a:rPr lang="es-CO" sz="1100" dirty="0">
                          <a:effectLst/>
                        </a:rPr>
                        <a:t> </a:t>
                      </a:r>
                      <a:endParaRPr lang="es-CO" sz="900" dirty="0">
                        <a:effectLst/>
                      </a:endParaRPr>
                    </a:p>
                    <a:p>
                      <a:pPr marL="168275" algn="ctr"/>
                      <a:r>
                        <a:rPr lang="es-CO" sz="9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3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6990" marR="38735" algn="just">
                        <a:lnSpc>
                          <a:spcPct val="106000"/>
                        </a:lnSpc>
                        <a:spcBef>
                          <a:spcPts val="95"/>
                        </a:spcBef>
                        <a:spcAft>
                          <a:spcPts val="0"/>
                        </a:spcAft>
                      </a:pPr>
                      <a:r>
                        <a:rPr lang="es-CO" sz="800" dirty="0">
                          <a:effectLst/>
                        </a:rPr>
                        <a:t> </a:t>
                      </a:r>
                      <a:endParaRPr lang="es-CO" sz="900" dirty="0">
                        <a:effectLst/>
                      </a:endParaRPr>
                    </a:p>
                    <a:p>
                      <a:pPr marL="46990" marR="38735" algn="just">
                        <a:lnSpc>
                          <a:spcPct val="106000"/>
                        </a:lnSpc>
                        <a:spcBef>
                          <a:spcPts val="95"/>
                        </a:spcBef>
                        <a:spcAft>
                          <a:spcPts val="0"/>
                        </a:spcAft>
                      </a:pPr>
                      <a:r>
                        <a:rPr lang="es-CO" sz="800" dirty="0">
                          <a:effectLst/>
                        </a:rPr>
                        <a:t>Si los campos no coinciden el sistema enviara un mensaje de “Los campos no coinciden, intente nuevamente”</a:t>
                      </a:r>
                      <a:endParaRPr lang="es-CO" sz="900" dirty="0">
                        <a:effectLst/>
                      </a:endParaRPr>
                    </a:p>
                    <a:p>
                      <a:pPr marL="46990" marR="38735" algn="just">
                        <a:lnSpc>
                          <a:spcPct val="106000"/>
                        </a:lnSpc>
                        <a:spcBef>
                          <a:spcPts val="95"/>
                        </a:spcBef>
                        <a:spcAft>
                          <a:spcPts val="0"/>
                        </a:spcAft>
                      </a:pPr>
                      <a:endParaRPr lang="es-CO" sz="9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0950022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565598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n 14">
            <a:extLst>
              <a:ext uri="{FF2B5EF4-FFF2-40B4-BE49-F238E27FC236}">
                <a16:creationId xmlns:a16="http://schemas.microsoft.com/office/drawing/2014/main" id="{CDCDA712-D4F6-4DB6-A78F-6FDC5A6483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1213" y="1294375"/>
            <a:ext cx="6309573" cy="4269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90951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5A40D602-8BCF-8F47-A377-DE9B48C8238E}"/>
              </a:ext>
            </a:extLst>
          </p:cNvPr>
          <p:cNvSpPr txBox="1">
            <a:spLocks noGrp="1"/>
          </p:cNvSpPr>
          <p:nvPr>
            <p:ph type="title"/>
          </p:nvPr>
        </p:nvSpPr>
        <p:spPr bwMode="auto">
          <a:xfrm>
            <a:off x="4101245" y="0"/>
            <a:ext cx="3989510" cy="575207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defRPr/>
            </a:pPr>
            <a:r>
              <a:rPr lang="es-CO" altLang="es-CO" sz="2800" b="1" dirty="0">
                <a:solidFill>
                  <a:srgbClr val="FA9930"/>
                </a:solidFill>
                <a:latin typeface="+mn-lt"/>
              </a:rPr>
              <a:t>Módulo empleados</a:t>
            </a: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CF304E08-0840-6C4D-B809-1736BD1585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7170134"/>
              </p:ext>
            </p:extLst>
          </p:nvPr>
        </p:nvGraphicFramePr>
        <p:xfrm>
          <a:off x="3424052" y="-38787"/>
          <a:ext cx="5343895" cy="6874376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658125">
                  <a:extLst>
                    <a:ext uri="{9D8B030D-6E8A-4147-A177-3AD203B41FA5}">
                      <a16:colId xmlns:a16="http://schemas.microsoft.com/office/drawing/2014/main" val="3120827593"/>
                    </a:ext>
                  </a:extLst>
                </a:gridCol>
                <a:gridCol w="2342885">
                  <a:extLst>
                    <a:ext uri="{9D8B030D-6E8A-4147-A177-3AD203B41FA5}">
                      <a16:colId xmlns:a16="http://schemas.microsoft.com/office/drawing/2014/main" val="3560936693"/>
                    </a:ext>
                  </a:extLst>
                </a:gridCol>
                <a:gridCol w="2342885">
                  <a:extLst>
                    <a:ext uri="{9D8B030D-6E8A-4147-A177-3AD203B41FA5}">
                      <a16:colId xmlns:a16="http://schemas.microsoft.com/office/drawing/2014/main" val="3680774726"/>
                    </a:ext>
                  </a:extLst>
                </a:gridCol>
              </a:tblGrid>
              <a:tr h="249051">
                <a:tc>
                  <a:txBody>
                    <a:bodyPr/>
                    <a:lstStyle/>
                    <a:p>
                      <a:pPr marL="34925">
                        <a:lnSpc>
                          <a:spcPts val="965"/>
                        </a:lnSpc>
                      </a:pPr>
                      <a:r>
                        <a:rPr lang="es-CO" sz="800">
                          <a:effectLst/>
                        </a:rPr>
                        <a:t>Casos de Uso</a:t>
                      </a:r>
                      <a:endParaRPr lang="es-CO" sz="9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019175">
                        <a:lnSpc>
                          <a:spcPts val="965"/>
                        </a:lnSpc>
                      </a:pPr>
                      <a:r>
                        <a:rPr lang="es-CO" sz="800" dirty="0">
                          <a:effectLst/>
                        </a:rPr>
                        <a:t> </a:t>
                      </a:r>
                    </a:p>
                    <a:p>
                      <a:pPr marL="1019175">
                        <a:lnSpc>
                          <a:spcPts val="965"/>
                        </a:lnSpc>
                      </a:pPr>
                      <a:r>
                        <a:rPr lang="es-CO" sz="800" dirty="0">
                          <a:effectLst/>
                        </a:rPr>
                        <a:t>                      Reestablecer contraseña</a:t>
                      </a:r>
                      <a:endParaRPr lang="es-CO" sz="9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569667"/>
                  </a:ext>
                </a:extLst>
              </a:tr>
              <a:tr h="404414">
                <a:tc>
                  <a:txBody>
                    <a:bodyPr/>
                    <a:lstStyle/>
                    <a:p>
                      <a:pPr marL="9525">
                        <a:spcBef>
                          <a:spcPts val="105"/>
                        </a:spcBef>
                        <a:spcAft>
                          <a:spcPts val="0"/>
                        </a:spcAft>
                      </a:pPr>
                      <a:endParaRPr lang="es-CO" sz="800" dirty="0">
                        <a:effectLst/>
                      </a:endParaRPr>
                    </a:p>
                    <a:p>
                      <a:pPr marL="9525">
                        <a:spcBef>
                          <a:spcPts val="105"/>
                        </a:spcBef>
                        <a:spcAft>
                          <a:spcPts val="0"/>
                        </a:spcAft>
                      </a:pPr>
                      <a:r>
                        <a:rPr lang="es-CO" sz="800" dirty="0">
                          <a:effectLst/>
                        </a:rPr>
                        <a:t>Descripción</a:t>
                      </a:r>
                      <a:endParaRPr lang="es-CO" sz="9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69215" marR="60325" algn="just">
                        <a:lnSpc>
                          <a:spcPct val="90000"/>
                        </a:lnSpc>
                        <a:spcBef>
                          <a:spcPts val="185"/>
                        </a:spcBef>
                        <a:spcAft>
                          <a:spcPts val="0"/>
                        </a:spcAft>
                      </a:pPr>
                      <a:endParaRPr lang="es-CO" sz="800" dirty="0">
                        <a:effectLst/>
                      </a:endParaRPr>
                    </a:p>
                    <a:p>
                      <a:pPr marL="69215" marR="60325" algn="just">
                        <a:lnSpc>
                          <a:spcPct val="90000"/>
                        </a:lnSpc>
                        <a:spcBef>
                          <a:spcPts val="185"/>
                        </a:spcBef>
                        <a:spcAft>
                          <a:spcPts val="0"/>
                        </a:spcAft>
                      </a:pPr>
                      <a:r>
                        <a:rPr lang="es-CO" sz="800" dirty="0">
                          <a:effectLst/>
                        </a:rPr>
                        <a:t>El sistema debe permitir al usuario cambiar su contraseña en caso de olvido</a:t>
                      </a: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6538039"/>
                  </a:ext>
                </a:extLst>
              </a:tr>
              <a:tr h="324137">
                <a:tc>
                  <a:txBody>
                    <a:bodyPr/>
                    <a:lstStyle/>
                    <a:p>
                      <a:pPr>
                        <a:spcBef>
                          <a:spcPts val="565"/>
                        </a:spcBef>
                        <a:spcAft>
                          <a:spcPts val="0"/>
                        </a:spcAft>
                      </a:pPr>
                      <a:r>
                        <a:rPr lang="es-CO" sz="800">
                          <a:effectLst/>
                        </a:rPr>
                        <a:t>Precondición</a:t>
                      </a:r>
                      <a:endParaRPr lang="es-CO" sz="9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69215" marR="2540">
                        <a:lnSpc>
                          <a:spcPct val="90000"/>
                        </a:lnSpc>
                        <a:spcBef>
                          <a:spcPts val="255"/>
                        </a:spcBef>
                        <a:spcAft>
                          <a:spcPts val="0"/>
                        </a:spcAft>
                      </a:pPr>
                      <a:r>
                        <a:rPr lang="es-CO" sz="800" dirty="0">
                          <a:effectLst/>
                        </a:rPr>
                        <a:t> El usuario debe estar registrado en el sistema</a:t>
                      </a:r>
                      <a:endParaRPr lang="es-CO" sz="9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8533601"/>
                  </a:ext>
                </a:extLst>
              </a:tr>
              <a:tr h="151466">
                <a:tc rowSpan="5">
                  <a:txBody>
                    <a:bodyPr/>
                    <a:lstStyle/>
                    <a:p>
                      <a:pPr marL="41275">
                        <a:lnSpc>
                          <a:spcPts val="925"/>
                        </a:lnSpc>
                      </a:pPr>
                      <a:r>
                        <a:rPr lang="es-CO" sz="800" dirty="0">
                          <a:effectLst/>
                        </a:rPr>
                        <a:t>Secuencia</a:t>
                      </a:r>
                      <a:endParaRPr lang="es-CO" sz="900" dirty="0">
                        <a:effectLst/>
                      </a:endParaRPr>
                    </a:p>
                    <a:p>
                      <a:pPr marL="80645">
                        <a:spcBef>
                          <a:spcPts val="80"/>
                        </a:spcBef>
                        <a:spcAft>
                          <a:spcPts val="0"/>
                        </a:spcAft>
                      </a:pPr>
                      <a:r>
                        <a:rPr lang="es-CO" sz="800" dirty="0">
                          <a:effectLst/>
                        </a:rPr>
                        <a:t>Normal</a:t>
                      </a:r>
                      <a:endParaRPr lang="es-CO" sz="9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845"/>
                        </a:lnSpc>
                      </a:pPr>
                      <a:r>
                        <a:rPr lang="es-CO" sz="700" spc="-20" dirty="0">
                          <a:effectLst/>
                        </a:rPr>
                        <a:t>Paso</a:t>
                      </a:r>
                      <a:endParaRPr lang="es-CO" sz="9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ts val="845"/>
                        </a:lnSpc>
                      </a:pPr>
                      <a:r>
                        <a:rPr lang="es-CO" sz="700">
                          <a:effectLst/>
                        </a:rPr>
                        <a:t>Acción</a:t>
                      </a:r>
                      <a:endParaRPr lang="es-CO" sz="9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715582348"/>
                  </a:ext>
                </a:extLst>
              </a:tr>
              <a:tr h="263564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3355" algn="ctr">
                        <a:lnSpc>
                          <a:spcPts val="960"/>
                        </a:lnSpc>
                      </a:pPr>
                      <a:r>
                        <a:rPr lang="es-CO" sz="900" dirty="0">
                          <a:effectLst/>
                        </a:rPr>
                        <a:t>1</a:t>
                      </a:r>
                      <a:endParaRPr lang="es-CO" sz="105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42545">
                        <a:spcBef>
                          <a:spcPts val="45"/>
                        </a:spcBef>
                        <a:spcAft>
                          <a:spcPts val="0"/>
                        </a:spcAft>
                      </a:pPr>
                      <a:r>
                        <a:rPr lang="es-CO" sz="900" dirty="0">
                          <a:effectLst/>
                          <a:latin typeface="+mj-lt"/>
                          <a:cs typeface="Calibri" panose="020F0502020204030204" pitchFamily="34" charset="0"/>
                        </a:rPr>
                        <a:t> El usuario da clic en el hipervínculo “¿Olvidaste tu contraseña?”</a:t>
                      </a:r>
                      <a:endParaRPr lang="es-CO" sz="1000" dirty="0">
                        <a:effectLst/>
                        <a:latin typeface="+mj-lt"/>
                        <a:cs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774530266"/>
                  </a:ext>
                </a:extLst>
              </a:tr>
              <a:tr h="417035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30"/>
                        </a:spcBef>
                      </a:pPr>
                      <a:r>
                        <a:rPr lang="es-CO" sz="700" dirty="0">
                          <a:effectLst/>
                        </a:rPr>
                        <a:t> </a:t>
                      </a:r>
                      <a:endParaRPr lang="es-CO" sz="900" dirty="0">
                        <a:effectLst/>
                      </a:endParaRPr>
                    </a:p>
                    <a:p>
                      <a:pPr marL="173355" algn="ctr"/>
                      <a:r>
                        <a:rPr lang="es-CO" sz="900" dirty="0">
                          <a:effectLst/>
                        </a:rPr>
                        <a:t>2</a:t>
                      </a:r>
                      <a:endParaRPr lang="es-CO" sz="105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42545" marR="40640" algn="just">
                        <a:lnSpc>
                          <a:spcPct val="92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s-CO" sz="800" dirty="0">
                          <a:effectLst/>
                        </a:rPr>
                        <a:t> </a:t>
                      </a:r>
                      <a:endParaRPr lang="es-CO" sz="900" dirty="0">
                        <a:effectLst/>
                      </a:endParaRPr>
                    </a:p>
                    <a:p>
                      <a:pPr marL="42545" marR="40640" algn="just">
                        <a:lnSpc>
                          <a:spcPct val="92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s-CO" sz="900" dirty="0">
                          <a:effectLst/>
                          <a:latin typeface="+mj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El sistema muestra un recuadro con dos campos de “Usuario”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186590003"/>
                  </a:ext>
                </a:extLst>
              </a:tr>
              <a:tr h="482347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3355" algn="ctr">
                        <a:lnSpc>
                          <a:spcPts val="1075"/>
                        </a:lnSpc>
                      </a:pPr>
                      <a:r>
                        <a:rPr lang="es-CO" sz="900" dirty="0">
                          <a:effectLst/>
                        </a:rPr>
                        <a:t>3</a:t>
                      </a:r>
                      <a:endParaRPr lang="es-CO" sz="105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42545">
                        <a:lnSpc>
                          <a:spcPct val="92000"/>
                        </a:lnSpc>
                        <a:spcBef>
                          <a:spcPts val="130"/>
                        </a:spcBef>
                        <a:spcAft>
                          <a:spcPts val="0"/>
                        </a:spcAft>
                      </a:pPr>
                      <a:r>
                        <a:rPr lang="es-CO" sz="800" dirty="0">
                          <a:effectLst/>
                        </a:rPr>
                        <a:t> </a:t>
                      </a:r>
                      <a:endParaRPr lang="es-CO" sz="900" dirty="0">
                        <a:effectLst/>
                      </a:endParaRPr>
                    </a:p>
                    <a:p>
                      <a:pPr marL="42545">
                        <a:lnSpc>
                          <a:spcPct val="92000"/>
                        </a:lnSpc>
                        <a:spcBef>
                          <a:spcPts val="130"/>
                        </a:spcBef>
                        <a:spcAft>
                          <a:spcPts val="0"/>
                        </a:spcAft>
                      </a:pPr>
                      <a:r>
                        <a:rPr lang="es-CO" sz="800" dirty="0">
                          <a:effectLst/>
                          <a:latin typeface="+mj-lt"/>
                          <a:cs typeface="Calibri" panose="020F0502020204030204" pitchFamily="34" charset="0"/>
                        </a:rPr>
                        <a:t> </a:t>
                      </a:r>
                      <a:r>
                        <a:rPr lang="es-CO" sz="900" dirty="0">
                          <a:effectLst/>
                          <a:latin typeface="+mj-lt"/>
                          <a:cs typeface="Calibri" panose="020F0502020204030204" pitchFamily="34" charset="0"/>
                        </a:rPr>
                        <a:t>El empleado llena los campos solicitados y da clic al botón enviar</a:t>
                      </a:r>
                    </a:p>
                    <a:p>
                      <a:pPr marL="42545">
                        <a:lnSpc>
                          <a:spcPct val="92000"/>
                        </a:lnSpc>
                        <a:spcBef>
                          <a:spcPts val="130"/>
                        </a:spcBef>
                        <a:spcAft>
                          <a:spcPts val="0"/>
                        </a:spcAft>
                      </a:pPr>
                      <a:r>
                        <a:rPr lang="es-CO" sz="800" dirty="0">
                          <a:effectLst/>
                        </a:rPr>
                        <a:t> </a:t>
                      </a:r>
                      <a:endParaRPr lang="es-CO" sz="9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216119899"/>
                  </a:ext>
                </a:extLst>
              </a:tr>
              <a:tr h="848592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45"/>
                        </a:spcBef>
                      </a:pPr>
                      <a:r>
                        <a:rPr lang="es-CO" sz="1000" dirty="0">
                          <a:effectLst/>
                        </a:rPr>
                        <a:t> </a:t>
                      </a:r>
                      <a:endParaRPr lang="es-CO" sz="900" dirty="0">
                        <a:effectLst/>
                      </a:endParaRPr>
                    </a:p>
                    <a:p>
                      <a:pPr marL="173355" algn="ctr">
                        <a:spcBef>
                          <a:spcPts val="5"/>
                        </a:spcBef>
                        <a:spcAft>
                          <a:spcPts val="0"/>
                        </a:spcAft>
                      </a:pPr>
                      <a:r>
                        <a:rPr lang="es-CO" sz="900" dirty="0">
                          <a:effectLst/>
                        </a:rPr>
                        <a:t>4</a:t>
                      </a:r>
                      <a:endParaRPr lang="es-CO" sz="105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42545" marR="32385" algn="just">
                        <a:lnSpc>
                          <a:spcPct val="92000"/>
                        </a:lnSpc>
                        <a:spcBef>
                          <a:spcPts val="265"/>
                        </a:spcBef>
                        <a:spcAft>
                          <a:spcPts val="0"/>
                        </a:spcAft>
                      </a:pPr>
                      <a:r>
                        <a:rPr lang="es-CO" sz="900" dirty="0">
                          <a:effectLst/>
                        </a:rPr>
                        <a:t>El sistema le envía una alerta al administrador que diga “Desea autorizar el restablecimiento de contraseña para el usuario “nombre de usuario” ” y además le solicitara al administrador ingresar  su “usuario” “contraseña” y  “clave de autorización”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681091914"/>
                  </a:ext>
                </a:extLst>
              </a:tr>
              <a:tr h="521516">
                <a:tc>
                  <a:txBody>
                    <a:bodyPr/>
                    <a:lstStyle/>
                    <a:p>
                      <a:pPr marL="80645">
                        <a:spcBef>
                          <a:spcPts val="80"/>
                        </a:spcBef>
                        <a:spcAft>
                          <a:spcPts val="0"/>
                        </a:spcAft>
                      </a:pPr>
                      <a:endParaRPr lang="es-CO" sz="9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3355" algn="ctr">
                        <a:spcBef>
                          <a:spcPts val="5"/>
                        </a:spcBef>
                        <a:spcAft>
                          <a:spcPts val="0"/>
                        </a:spcAft>
                      </a:pPr>
                      <a:r>
                        <a:rPr lang="es-CO" sz="105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5</a:t>
                      </a:r>
                    </a:p>
                  </a:txBody>
                  <a:tcPr marL="0" marR="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42545" marR="32385" algn="just">
                        <a:lnSpc>
                          <a:spcPct val="92000"/>
                        </a:lnSpc>
                        <a:spcBef>
                          <a:spcPts val="265"/>
                        </a:spcBef>
                        <a:spcAft>
                          <a:spcPts val="0"/>
                        </a:spcAft>
                      </a:pPr>
                      <a:r>
                        <a:rPr lang="es-ES" sz="900" dirty="0">
                          <a:effectLst/>
                        </a:rPr>
                        <a:t>El administrador da clic da </a:t>
                      </a:r>
                      <a:r>
                        <a:rPr lang="es-ES" sz="900" dirty="0" err="1">
                          <a:effectLst/>
                        </a:rPr>
                        <a:t>click</a:t>
                      </a:r>
                      <a:r>
                        <a:rPr lang="es-ES" sz="900" dirty="0">
                          <a:effectLst/>
                        </a:rPr>
                        <a:t> en el botón de sí y llena los campos solicitados</a:t>
                      </a:r>
                    </a:p>
                    <a:p>
                      <a:pPr marL="42545" marR="32385" algn="just">
                        <a:lnSpc>
                          <a:spcPct val="92000"/>
                        </a:lnSpc>
                        <a:spcBef>
                          <a:spcPts val="265"/>
                        </a:spcBef>
                        <a:spcAft>
                          <a:spcPts val="0"/>
                        </a:spcAft>
                      </a:pPr>
                      <a:endParaRPr lang="es-CO" sz="900" dirty="0">
                        <a:effectLst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169305756"/>
                  </a:ext>
                </a:extLst>
              </a:tr>
              <a:tr h="414532">
                <a:tc>
                  <a:txBody>
                    <a:bodyPr/>
                    <a:lstStyle/>
                    <a:p>
                      <a:pPr marL="80645">
                        <a:spcBef>
                          <a:spcPts val="80"/>
                        </a:spcBef>
                        <a:spcAft>
                          <a:spcPts val="0"/>
                        </a:spcAft>
                      </a:pPr>
                      <a:endParaRPr lang="es-CO" sz="9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3355" algn="ctr">
                        <a:spcBef>
                          <a:spcPts val="5"/>
                        </a:spcBef>
                        <a:spcAft>
                          <a:spcPts val="0"/>
                        </a:spcAft>
                      </a:pPr>
                      <a:endParaRPr lang="es-CO" sz="9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  <a:p>
                      <a:pPr marL="173355" algn="ctr">
                        <a:spcBef>
                          <a:spcPts val="5"/>
                        </a:spcBef>
                        <a:spcAft>
                          <a:spcPts val="0"/>
                        </a:spcAft>
                      </a:pPr>
                      <a:r>
                        <a:rPr lang="es-CO" sz="900" dirty="0">
                          <a:effectLst/>
                          <a:latin typeface="Calibri  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6</a:t>
                      </a:r>
                    </a:p>
                  </a:txBody>
                  <a:tcPr marL="0" marR="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42545" marR="32385" algn="just">
                        <a:lnSpc>
                          <a:spcPct val="92000"/>
                        </a:lnSpc>
                        <a:spcBef>
                          <a:spcPts val="265"/>
                        </a:spcBef>
                        <a:spcAft>
                          <a:spcPts val="0"/>
                        </a:spcAft>
                      </a:pPr>
                      <a:r>
                        <a:rPr lang="es-CO" sz="900" dirty="0">
                          <a:effectLst/>
                        </a:rPr>
                        <a:t>El sistema le </a:t>
                      </a:r>
                      <a:r>
                        <a:rPr lang="es-CO" sz="900" dirty="0" err="1">
                          <a:effectLst/>
                        </a:rPr>
                        <a:t>envia</a:t>
                      </a:r>
                      <a:r>
                        <a:rPr lang="es-CO" sz="900" dirty="0">
                          <a:effectLst/>
                        </a:rPr>
                        <a:t> un correo al usuario que solicito el cambio junto con un enlace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577490831"/>
                  </a:ext>
                </a:extLst>
              </a:tr>
              <a:tr h="484909">
                <a:tc>
                  <a:txBody>
                    <a:bodyPr/>
                    <a:lstStyle/>
                    <a:p>
                      <a:pPr marL="80645">
                        <a:spcBef>
                          <a:spcPts val="80"/>
                        </a:spcBef>
                        <a:spcAft>
                          <a:spcPts val="0"/>
                        </a:spcAft>
                      </a:pPr>
                      <a:endParaRPr lang="es-CO" sz="9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173355" algn="ctr">
                        <a:spcBef>
                          <a:spcPts val="5"/>
                        </a:spcBef>
                        <a:spcAft>
                          <a:spcPts val="0"/>
                        </a:spcAft>
                      </a:pPr>
                      <a:endParaRPr lang="es-CO" sz="900" dirty="0">
                        <a:effectLst/>
                        <a:latin typeface="Calibri  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  <a:p>
                      <a:pPr marL="173355" algn="ctr">
                        <a:spcBef>
                          <a:spcPts val="5"/>
                        </a:spcBef>
                        <a:spcAft>
                          <a:spcPts val="0"/>
                        </a:spcAft>
                      </a:pPr>
                      <a:r>
                        <a:rPr lang="es-CO" sz="900" dirty="0">
                          <a:effectLst/>
                          <a:latin typeface="Calibri  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7</a:t>
                      </a:r>
                    </a:p>
                  </a:txBody>
                  <a:tcPr marL="0" marR="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42545" marR="32385" algn="just">
                        <a:lnSpc>
                          <a:spcPct val="92000"/>
                        </a:lnSpc>
                        <a:spcBef>
                          <a:spcPts val="265"/>
                        </a:spcBef>
                        <a:spcAft>
                          <a:spcPts val="0"/>
                        </a:spcAft>
                      </a:pPr>
                      <a:r>
                        <a:rPr lang="es-CO" sz="900" dirty="0">
                          <a:effectLst/>
                        </a:rPr>
                        <a:t>El usuario da clic al enlace y es enviado al un formulario con tres campos “Nombre de usuario” “Contraseña” y “Confirmar contraseña”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348186585"/>
                  </a:ext>
                </a:extLst>
              </a:tr>
              <a:tr h="414532">
                <a:tc>
                  <a:txBody>
                    <a:bodyPr/>
                    <a:lstStyle/>
                    <a:p>
                      <a:pPr marL="80645">
                        <a:spcBef>
                          <a:spcPts val="80"/>
                        </a:spcBef>
                        <a:spcAft>
                          <a:spcPts val="0"/>
                        </a:spcAft>
                      </a:pPr>
                      <a:endParaRPr lang="es-CO" sz="9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3355" algn="ctr">
                        <a:spcBef>
                          <a:spcPts val="5"/>
                        </a:spcBef>
                        <a:spcAft>
                          <a:spcPts val="0"/>
                        </a:spcAft>
                      </a:pPr>
                      <a:r>
                        <a:rPr lang="es-CO" sz="900" dirty="0">
                          <a:effectLst/>
                          <a:latin typeface="Calibri  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8</a:t>
                      </a:r>
                    </a:p>
                  </a:txBody>
                  <a:tcPr marL="0" marR="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42545" marR="32385" algn="just">
                        <a:lnSpc>
                          <a:spcPct val="92000"/>
                        </a:lnSpc>
                        <a:spcBef>
                          <a:spcPts val="265"/>
                        </a:spcBef>
                        <a:spcAft>
                          <a:spcPts val="0"/>
                        </a:spcAft>
                      </a:pPr>
                      <a:r>
                        <a:rPr lang="es-CO" sz="900" dirty="0">
                          <a:effectLst/>
                        </a:rPr>
                        <a:t>El sistema </a:t>
                      </a:r>
                      <a:r>
                        <a:rPr lang="es-CO" sz="900" dirty="0" err="1">
                          <a:effectLst/>
                        </a:rPr>
                        <a:t>envia</a:t>
                      </a:r>
                      <a:r>
                        <a:rPr lang="es-CO" sz="900" dirty="0">
                          <a:effectLst/>
                        </a:rPr>
                        <a:t> un mensaje de “Su contraseña ha sido reestablecida exitosamente”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691568276"/>
                  </a:ext>
                </a:extLst>
              </a:tr>
              <a:tr h="345342">
                <a:tc>
                  <a:txBody>
                    <a:bodyPr/>
                    <a:lstStyle/>
                    <a:p>
                      <a:pPr marL="67310">
                        <a:spcBef>
                          <a:spcPts val="265"/>
                        </a:spcBef>
                        <a:spcAft>
                          <a:spcPts val="0"/>
                        </a:spcAft>
                      </a:pPr>
                      <a:r>
                        <a:rPr lang="es-CO" sz="800">
                          <a:effectLst/>
                        </a:rPr>
                        <a:t>Post Condición</a:t>
                      </a:r>
                      <a:endParaRPr lang="es-CO" sz="9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52705">
                        <a:lnSpc>
                          <a:spcPct val="92000"/>
                        </a:lnSpc>
                        <a:spcBef>
                          <a:spcPts val="15"/>
                        </a:spcBef>
                        <a:spcAft>
                          <a:spcPts val="0"/>
                        </a:spcAft>
                      </a:pPr>
                      <a:r>
                        <a:rPr lang="es-CO" sz="800" dirty="0">
                          <a:effectLst/>
                        </a:rPr>
                        <a:t> </a:t>
                      </a:r>
                      <a:endParaRPr lang="es-CO" sz="900" dirty="0">
                        <a:effectLst/>
                      </a:endParaRPr>
                    </a:p>
                    <a:p>
                      <a:pPr marL="52705">
                        <a:lnSpc>
                          <a:spcPct val="92000"/>
                        </a:lnSpc>
                        <a:spcBef>
                          <a:spcPts val="15"/>
                        </a:spcBef>
                        <a:spcAft>
                          <a:spcPts val="0"/>
                        </a:spcAft>
                      </a:pPr>
                      <a:r>
                        <a:rPr lang="es-CO" sz="800" dirty="0">
                          <a:effectLst/>
                        </a:rPr>
                        <a:t>  La contraseña del usuario es cambiada exitosamente </a:t>
                      </a:r>
                      <a:endParaRPr lang="es-CO" sz="9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6203859"/>
                  </a:ext>
                </a:extLst>
              </a:tr>
              <a:tr h="162574">
                <a:tc rowSpan="3">
                  <a:txBody>
                    <a:bodyPr/>
                    <a:lstStyle/>
                    <a:p>
                      <a:pPr marL="41275">
                        <a:lnSpc>
                          <a:spcPts val="1025"/>
                        </a:lnSpc>
                      </a:pPr>
                      <a:r>
                        <a:rPr lang="es-CO" sz="800" dirty="0">
                          <a:effectLst/>
                        </a:rPr>
                        <a:t>Excepciones</a:t>
                      </a:r>
                      <a:endParaRPr lang="es-CO" sz="9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945"/>
                        </a:lnSpc>
                      </a:pPr>
                      <a:r>
                        <a:rPr lang="es-CO" sz="700" spc="-20" dirty="0">
                          <a:effectLst/>
                        </a:rPr>
                        <a:t>Paso</a:t>
                      </a:r>
                      <a:endParaRPr lang="es-CO" sz="9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945"/>
                        </a:lnSpc>
                      </a:pPr>
                      <a:r>
                        <a:rPr lang="es-CO" sz="700" dirty="0">
                          <a:effectLst/>
                        </a:rPr>
                        <a:t> </a:t>
                      </a:r>
                      <a:endParaRPr lang="es-CO" sz="9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232581952"/>
                  </a:ext>
                </a:extLst>
              </a:tr>
              <a:tr h="623037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60"/>
                        </a:spcBef>
                      </a:pPr>
                      <a:r>
                        <a:rPr lang="es-CO" sz="1100" dirty="0">
                          <a:effectLst/>
                        </a:rPr>
                        <a:t> </a:t>
                      </a:r>
                      <a:endParaRPr lang="es-CO" sz="900" dirty="0">
                        <a:effectLst/>
                      </a:endParaRPr>
                    </a:p>
                    <a:p>
                      <a:pPr marL="168275" algn="ctr"/>
                      <a:r>
                        <a:rPr lang="es-CO" sz="700" dirty="0">
                          <a:solidFill>
                            <a:schemeClr val="bg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2</a:t>
                      </a:r>
                      <a:endParaRPr lang="es-CO" sz="900" dirty="0">
                        <a:solidFill>
                          <a:schemeClr val="bg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46990" marR="38735" algn="just">
                        <a:lnSpc>
                          <a:spcPct val="106000"/>
                        </a:lnSpc>
                        <a:spcBef>
                          <a:spcPts val="95"/>
                        </a:spcBef>
                        <a:spcAft>
                          <a:spcPts val="0"/>
                        </a:spcAft>
                      </a:pPr>
                      <a:r>
                        <a:rPr lang="es-CO" sz="800" dirty="0">
                          <a:effectLst/>
                        </a:rPr>
                        <a:t> </a:t>
                      </a:r>
                      <a:endParaRPr lang="es-CO" sz="900" dirty="0">
                        <a:effectLst/>
                      </a:endParaRPr>
                    </a:p>
                    <a:p>
                      <a:pPr marL="46990" marR="38735" algn="just">
                        <a:lnSpc>
                          <a:spcPct val="106000"/>
                        </a:lnSpc>
                        <a:spcBef>
                          <a:spcPts val="95"/>
                        </a:spcBef>
                        <a:spcAft>
                          <a:spcPts val="0"/>
                        </a:spcAft>
                      </a:pPr>
                      <a:r>
                        <a:rPr lang="es-CO" sz="800" dirty="0">
                          <a:effectLst/>
                        </a:rPr>
                        <a:t> Si el nombre de usuario no coincide en el sistema se enviara un mensaje de “El usuario no esta en el sistema, ingrese un usuario que este registrado”</a:t>
                      </a:r>
                      <a:endParaRPr lang="es-CO" sz="9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095002290"/>
                  </a:ext>
                </a:extLst>
              </a:tr>
              <a:tr h="610835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68275" algn="ctr">
                        <a:spcBef>
                          <a:spcPts val="520"/>
                        </a:spcBef>
                        <a:spcAft>
                          <a:spcPts val="0"/>
                        </a:spcAft>
                      </a:pPr>
                      <a:endParaRPr lang="es-CO" sz="700" dirty="0">
                        <a:effectLst/>
                      </a:endParaRPr>
                    </a:p>
                    <a:p>
                      <a:pPr marL="168275" algn="ctr">
                        <a:spcBef>
                          <a:spcPts val="520"/>
                        </a:spcBef>
                        <a:spcAft>
                          <a:spcPts val="0"/>
                        </a:spcAft>
                      </a:pPr>
                      <a:r>
                        <a:rPr lang="es-CO" sz="7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4</a:t>
                      </a:r>
                      <a:endParaRPr lang="es-CO" sz="9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6990" marR="35560">
                        <a:lnSpc>
                          <a:spcPct val="106000"/>
                        </a:lnSpc>
                        <a:spcBef>
                          <a:spcPts val="30"/>
                        </a:spcBef>
                        <a:spcAft>
                          <a:spcPts val="0"/>
                        </a:spcAft>
                      </a:pPr>
                      <a:r>
                        <a:rPr lang="es-CO" sz="800" dirty="0">
                          <a:effectLst/>
                        </a:rPr>
                        <a:t> Si el </a:t>
                      </a:r>
                      <a:r>
                        <a:rPr lang="es-CO" sz="800" dirty="0" err="1">
                          <a:effectLst/>
                        </a:rPr>
                        <a:t>admistrado</a:t>
                      </a:r>
                      <a:r>
                        <a:rPr lang="es-CO" sz="800" dirty="0">
                          <a:effectLst/>
                        </a:rPr>
                        <a:t> coloca alguno de los campos solicitados </a:t>
                      </a:r>
                      <a:r>
                        <a:rPr lang="es-CO" sz="800" dirty="0" err="1">
                          <a:effectLst/>
                        </a:rPr>
                        <a:t>erroneo</a:t>
                      </a:r>
                      <a:r>
                        <a:rPr lang="es-CO" sz="800" dirty="0">
                          <a:effectLst/>
                        </a:rPr>
                        <a:t> el sistema enviara un mensaje que diga “Los campos solicitados no coincide, por favor intente nuevamente”</a:t>
                      </a:r>
                      <a:endParaRPr lang="es-CO" sz="9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6770227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33980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11C6895F-95E6-40DD-8F08-1B134C7EF4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5064" y="0"/>
            <a:ext cx="884187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90982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CF304E08-0840-6C4D-B809-1736BD1585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2473540"/>
              </p:ext>
            </p:extLst>
          </p:nvPr>
        </p:nvGraphicFramePr>
        <p:xfrm>
          <a:off x="3297038" y="795131"/>
          <a:ext cx="5343895" cy="4879076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658125">
                  <a:extLst>
                    <a:ext uri="{9D8B030D-6E8A-4147-A177-3AD203B41FA5}">
                      <a16:colId xmlns:a16="http://schemas.microsoft.com/office/drawing/2014/main" val="3120827593"/>
                    </a:ext>
                  </a:extLst>
                </a:gridCol>
                <a:gridCol w="2342885">
                  <a:extLst>
                    <a:ext uri="{9D8B030D-6E8A-4147-A177-3AD203B41FA5}">
                      <a16:colId xmlns:a16="http://schemas.microsoft.com/office/drawing/2014/main" val="3560936693"/>
                    </a:ext>
                  </a:extLst>
                </a:gridCol>
                <a:gridCol w="2342885">
                  <a:extLst>
                    <a:ext uri="{9D8B030D-6E8A-4147-A177-3AD203B41FA5}">
                      <a16:colId xmlns:a16="http://schemas.microsoft.com/office/drawing/2014/main" val="3680774726"/>
                    </a:ext>
                  </a:extLst>
                </a:gridCol>
              </a:tblGrid>
              <a:tr h="219207">
                <a:tc>
                  <a:txBody>
                    <a:bodyPr/>
                    <a:lstStyle/>
                    <a:p>
                      <a:pPr marL="34925">
                        <a:lnSpc>
                          <a:spcPts val="965"/>
                        </a:lnSpc>
                      </a:pPr>
                      <a:r>
                        <a:rPr lang="es-CO" sz="800">
                          <a:effectLst/>
                        </a:rPr>
                        <a:t>Casos de Uso</a:t>
                      </a:r>
                      <a:endParaRPr lang="es-CO" sz="9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019175">
                        <a:lnSpc>
                          <a:spcPts val="965"/>
                        </a:lnSpc>
                      </a:pPr>
                      <a:r>
                        <a:rPr lang="es-CO" sz="800" dirty="0">
                          <a:effectLst/>
                        </a:rPr>
                        <a:t>   </a:t>
                      </a:r>
                    </a:p>
                    <a:p>
                      <a:pPr marL="1019175">
                        <a:lnSpc>
                          <a:spcPts val="965"/>
                        </a:lnSpc>
                      </a:pPr>
                      <a:r>
                        <a:rPr lang="es-CO" sz="900" dirty="0">
                          <a:effectLst/>
                          <a:latin typeface="Calibri  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                             Eliminar usuario</a:t>
                      </a: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569667"/>
                  </a:ext>
                </a:extLst>
              </a:tr>
              <a:tr h="468018">
                <a:tc>
                  <a:txBody>
                    <a:bodyPr/>
                    <a:lstStyle/>
                    <a:p>
                      <a:pPr marL="9525">
                        <a:spcBef>
                          <a:spcPts val="105"/>
                        </a:spcBef>
                        <a:spcAft>
                          <a:spcPts val="0"/>
                        </a:spcAft>
                      </a:pPr>
                      <a:endParaRPr lang="es-CO" sz="800" dirty="0">
                        <a:effectLst/>
                      </a:endParaRPr>
                    </a:p>
                    <a:p>
                      <a:pPr marL="9525">
                        <a:spcBef>
                          <a:spcPts val="105"/>
                        </a:spcBef>
                        <a:spcAft>
                          <a:spcPts val="0"/>
                        </a:spcAft>
                      </a:pPr>
                      <a:r>
                        <a:rPr lang="es-CO" sz="800" dirty="0">
                          <a:effectLst/>
                        </a:rPr>
                        <a:t>Descripción</a:t>
                      </a:r>
                      <a:endParaRPr lang="es-CO" sz="9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69215" marR="60325" algn="just">
                        <a:lnSpc>
                          <a:spcPct val="90000"/>
                        </a:lnSpc>
                        <a:spcBef>
                          <a:spcPts val="185"/>
                        </a:spcBef>
                        <a:spcAft>
                          <a:spcPts val="0"/>
                        </a:spcAft>
                      </a:pPr>
                      <a:endParaRPr lang="es-CO" sz="900" dirty="0">
                        <a:effectLst/>
                      </a:endParaRPr>
                    </a:p>
                    <a:p>
                      <a:pPr marL="69215" marR="60325" algn="just">
                        <a:lnSpc>
                          <a:spcPct val="90000"/>
                        </a:lnSpc>
                        <a:spcBef>
                          <a:spcPts val="185"/>
                        </a:spcBef>
                        <a:spcAft>
                          <a:spcPts val="0"/>
                        </a:spcAft>
                      </a:pPr>
                      <a:r>
                        <a:rPr lang="es-CO" sz="900" dirty="0">
                          <a:effectLst/>
                        </a:rPr>
                        <a:t>El sistema debe permitir al administrador eliminar usuarios</a:t>
                      </a: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6538039"/>
                  </a:ext>
                </a:extLst>
              </a:tr>
              <a:tr h="375116">
                <a:tc>
                  <a:txBody>
                    <a:bodyPr/>
                    <a:lstStyle/>
                    <a:p>
                      <a:pPr>
                        <a:spcBef>
                          <a:spcPts val="565"/>
                        </a:spcBef>
                        <a:spcAft>
                          <a:spcPts val="0"/>
                        </a:spcAft>
                      </a:pPr>
                      <a:r>
                        <a:rPr lang="es-CO" sz="800">
                          <a:effectLst/>
                        </a:rPr>
                        <a:t>Precondición</a:t>
                      </a:r>
                      <a:endParaRPr lang="es-CO" sz="9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69215" marR="2540">
                        <a:lnSpc>
                          <a:spcPct val="90000"/>
                        </a:lnSpc>
                        <a:spcBef>
                          <a:spcPts val="255"/>
                        </a:spcBef>
                        <a:spcAft>
                          <a:spcPts val="0"/>
                        </a:spcAft>
                      </a:pPr>
                      <a:r>
                        <a:rPr lang="es-CO" sz="900" dirty="0">
                          <a:effectLst/>
                        </a:rPr>
                        <a:t>El usuario tiene que estar registrado en el sistema</a:t>
                      </a:r>
                      <a:endParaRPr lang="es-CO" sz="10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8533601"/>
                  </a:ext>
                </a:extLst>
              </a:tr>
              <a:tr h="175287">
                <a:tc rowSpan="5">
                  <a:txBody>
                    <a:bodyPr/>
                    <a:lstStyle/>
                    <a:p>
                      <a:pPr marL="41275">
                        <a:lnSpc>
                          <a:spcPts val="925"/>
                        </a:lnSpc>
                      </a:pPr>
                      <a:r>
                        <a:rPr lang="es-CO" sz="800" dirty="0">
                          <a:effectLst/>
                        </a:rPr>
                        <a:t>Secuencia</a:t>
                      </a:r>
                      <a:endParaRPr lang="es-CO" sz="900" dirty="0">
                        <a:effectLst/>
                      </a:endParaRPr>
                    </a:p>
                    <a:p>
                      <a:pPr marL="80645">
                        <a:spcBef>
                          <a:spcPts val="80"/>
                        </a:spcBef>
                        <a:spcAft>
                          <a:spcPts val="0"/>
                        </a:spcAft>
                      </a:pPr>
                      <a:r>
                        <a:rPr lang="es-CO" sz="800" dirty="0">
                          <a:effectLst/>
                        </a:rPr>
                        <a:t>Normal</a:t>
                      </a:r>
                      <a:endParaRPr lang="es-CO" sz="9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845"/>
                        </a:lnSpc>
                      </a:pPr>
                      <a:r>
                        <a:rPr lang="es-CO" sz="700" spc="-20" dirty="0">
                          <a:effectLst/>
                        </a:rPr>
                        <a:t>Paso</a:t>
                      </a:r>
                      <a:endParaRPr lang="es-CO" sz="9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ts val="845"/>
                        </a:lnSpc>
                      </a:pPr>
                      <a:r>
                        <a:rPr lang="es-CO" sz="700">
                          <a:effectLst/>
                        </a:rPr>
                        <a:t>Acción</a:t>
                      </a:r>
                      <a:endParaRPr lang="es-CO" sz="9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715582348"/>
                  </a:ext>
                </a:extLst>
              </a:tr>
              <a:tr h="283496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3355" algn="ctr">
                        <a:lnSpc>
                          <a:spcPts val="960"/>
                        </a:lnSpc>
                      </a:pPr>
                      <a:r>
                        <a:rPr lang="es-CO" sz="900" dirty="0">
                          <a:effectLst/>
                        </a:rPr>
                        <a:t>1</a:t>
                      </a:r>
                      <a:endParaRPr lang="es-CO" sz="9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42545">
                        <a:spcBef>
                          <a:spcPts val="45"/>
                        </a:spcBef>
                        <a:spcAft>
                          <a:spcPts val="0"/>
                        </a:spcAft>
                      </a:pPr>
                      <a:r>
                        <a:rPr lang="es-CO" sz="800" dirty="0">
                          <a:effectLst/>
                        </a:rPr>
                        <a:t>El administrador da clic al hipervínculo “Eliminar usuario”</a:t>
                      </a:r>
                      <a:endParaRPr lang="es-CO" sz="900" dirty="0">
                        <a:effectLst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774530266"/>
                  </a:ext>
                </a:extLst>
              </a:tr>
              <a:tr h="482624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30"/>
                        </a:spcBef>
                      </a:pPr>
                      <a:r>
                        <a:rPr lang="es-CO" sz="700" dirty="0">
                          <a:effectLst/>
                        </a:rPr>
                        <a:t> </a:t>
                      </a:r>
                      <a:endParaRPr lang="es-CO" sz="900" dirty="0">
                        <a:effectLst/>
                      </a:endParaRPr>
                    </a:p>
                    <a:p>
                      <a:pPr marL="173355" algn="ctr"/>
                      <a:r>
                        <a:rPr lang="es-CO" sz="900" dirty="0">
                          <a:effectLst/>
                        </a:rPr>
                        <a:t>2</a:t>
                      </a:r>
                      <a:endParaRPr lang="es-CO" sz="9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42545" marR="40640" algn="just">
                        <a:lnSpc>
                          <a:spcPct val="92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s-CO" sz="1000" dirty="0">
                          <a:effectLst/>
                          <a:latin typeface="+mn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El sistema muestra dos campos de “Clave de autorización” y “Nombre de usuario”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186590003"/>
                  </a:ext>
                </a:extLst>
              </a:tr>
              <a:tr h="420665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3355" algn="ctr">
                        <a:lnSpc>
                          <a:spcPts val="1075"/>
                        </a:lnSpc>
                      </a:pPr>
                      <a:r>
                        <a:rPr lang="es-CO" sz="900" dirty="0">
                          <a:effectLst/>
                        </a:rPr>
                        <a:t>3</a:t>
                      </a:r>
                      <a:endParaRPr lang="es-CO" sz="9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42545">
                        <a:lnSpc>
                          <a:spcPct val="92000"/>
                        </a:lnSpc>
                        <a:spcBef>
                          <a:spcPts val="130"/>
                        </a:spcBef>
                        <a:spcAft>
                          <a:spcPts val="0"/>
                        </a:spcAft>
                      </a:pPr>
                      <a:r>
                        <a:rPr lang="es-CO" sz="900" dirty="0">
                          <a:effectLst/>
                        </a:rPr>
                        <a:t> El administrador ingresa el nombre del usuario, la clave de autorización y le da clic al botón de “confirmar”</a:t>
                      </a:r>
                      <a:endParaRPr lang="es-CO" sz="1000" dirty="0">
                        <a:effectLst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216119899"/>
                  </a:ext>
                </a:extLst>
              </a:tr>
              <a:tr h="557326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45"/>
                        </a:spcBef>
                      </a:pPr>
                      <a:r>
                        <a:rPr lang="es-CO" sz="1000" dirty="0">
                          <a:effectLst/>
                        </a:rPr>
                        <a:t> </a:t>
                      </a:r>
                      <a:endParaRPr lang="es-CO" sz="900" dirty="0">
                        <a:effectLst/>
                      </a:endParaRPr>
                    </a:p>
                    <a:p>
                      <a:pPr marL="173355" algn="ctr">
                        <a:spcBef>
                          <a:spcPts val="5"/>
                        </a:spcBef>
                        <a:spcAft>
                          <a:spcPts val="0"/>
                        </a:spcAft>
                      </a:pPr>
                      <a:r>
                        <a:rPr lang="es-CO" sz="900" dirty="0">
                          <a:effectLst/>
                        </a:rPr>
                        <a:t>4</a:t>
                      </a:r>
                      <a:endParaRPr lang="es-CO" sz="9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42545" marR="32385" algn="just">
                        <a:lnSpc>
                          <a:spcPct val="92000"/>
                        </a:lnSpc>
                        <a:spcBef>
                          <a:spcPts val="265"/>
                        </a:spcBef>
                        <a:spcAft>
                          <a:spcPts val="0"/>
                        </a:spcAft>
                      </a:pPr>
                      <a:r>
                        <a:rPr lang="es-CO" sz="900" dirty="0">
                          <a:effectLst/>
                        </a:rPr>
                        <a:t>El sistema valida que la clave de autorización sea correcta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681091914"/>
                  </a:ext>
                </a:extLst>
              </a:tr>
              <a:tr h="479727">
                <a:tc>
                  <a:txBody>
                    <a:bodyPr/>
                    <a:lstStyle/>
                    <a:p>
                      <a:pPr marL="80645">
                        <a:spcBef>
                          <a:spcPts val="80"/>
                        </a:spcBef>
                        <a:spcAft>
                          <a:spcPts val="0"/>
                        </a:spcAft>
                      </a:pPr>
                      <a:endParaRPr lang="es-CO" sz="9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3355" algn="ctr">
                        <a:spcBef>
                          <a:spcPts val="5"/>
                        </a:spcBef>
                        <a:spcAft>
                          <a:spcPts val="0"/>
                        </a:spcAft>
                      </a:pPr>
                      <a:r>
                        <a:rPr lang="es-CO" sz="900" dirty="0">
                          <a:effectLst/>
                          <a:latin typeface="+mn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5</a:t>
                      </a:r>
                    </a:p>
                  </a:txBody>
                  <a:tcPr marL="0" marR="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42545" marR="32385" algn="just">
                        <a:lnSpc>
                          <a:spcPct val="92000"/>
                        </a:lnSpc>
                        <a:spcBef>
                          <a:spcPts val="265"/>
                        </a:spcBef>
                        <a:spcAft>
                          <a:spcPts val="0"/>
                        </a:spcAft>
                      </a:pPr>
                      <a:r>
                        <a:rPr lang="es-CO" sz="900" dirty="0">
                          <a:effectLst/>
                        </a:rPr>
                        <a:t>El sistema envía un mensaje de “El usuario ha sido eliminado exitosamente”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79010348"/>
                  </a:ext>
                </a:extLst>
              </a:tr>
              <a:tr h="399655">
                <a:tc>
                  <a:txBody>
                    <a:bodyPr/>
                    <a:lstStyle/>
                    <a:p>
                      <a:pPr marL="67310">
                        <a:spcBef>
                          <a:spcPts val="265"/>
                        </a:spcBef>
                        <a:spcAft>
                          <a:spcPts val="0"/>
                        </a:spcAft>
                      </a:pPr>
                      <a:r>
                        <a:rPr lang="es-CO" sz="800">
                          <a:effectLst/>
                        </a:rPr>
                        <a:t>Post Condición</a:t>
                      </a:r>
                      <a:endParaRPr lang="es-CO" sz="9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52705">
                        <a:lnSpc>
                          <a:spcPct val="92000"/>
                        </a:lnSpc>
                        <a:spcBef>
                          <a:spcPts val="15"/>
                        </a:spcBef>
                        <a:spcAft>
                          <a:spcPts val="0"/>
                        </a:spcAft>
                      </a:pPr>
                      <a:r>
                        <a:rPr lang="es-CO" sz="800" dirty="0">
                          <a:effectLst/>
                        </a:rPr>
                        <a:t>El usuario es eliminado del sistema</a:t>
                      </a:r>
                      <a:endParaRPr lang="es-CO" sz="900" dirty="0">
                        <a:effectLst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6203859"/>
                  </a:ext>
                </a:extLst>
              </a:tr>
              <a:tr h="188142">
                <a:tc rowSpan="2">
                  <a:txBody>
                    <a:bodyPr/>
                    <a:lstStyle/>
                    <a:p>
                      <a:pPr marL="41275">
                        <a:lnSpc>
                          <a:spcPts val="1025"/>
                        </a:lnSpc>
                      </a:pPr>
                      <a:r>
                        <a:rPr lang="es-CO" sz="800" dirty="0">
                          <a:effectLst/>
                        </a:rPr>
                        <a:t>Excepciones</a:t>
                      </a:r>
                      <a:endParaRPr lang="es-CO" sz="9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945"/>
                        </a:lnSpc>
                      </a:pPr>
                      <a:r>
                        <a:rPr lang="es-CO" sz="700" spc="-20" dirty="0">
                          <a:effectLst/>
                        </a:rPr>
                        <a:t>Paso</a:t>
                      </a:r>
                      <a:endParaRPr lang="es-CO" sz="9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945"/>
                        </a:lnSpc>
                      </a:pPr>
                      <a:r>
                        <a:rPr lang="es-CO" sz="700" dirty="0">
                          <a:effectLst/>
                        </a:rPr>
                        <a:t> </a:t>
                      </a:r>
                      <a:endParaRPr lang="es-CO" sz="9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2581952"/>
                  </a:ext>
                </a:extLst>
              </a:tr>
              <a:tr h="472567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60"/>
                        </a:spcBef>
                      </a:pPr>
                      <a:r>
                        <a:rPr lang="es-CO" sz="1100" dirty="0">
                          <a:effectLst/>
                        </a:rPr>
                        <a:t> </a:t>
                      </a:r>
                      <a:endParaRPr lang="es-CO" sz="900" dirty="0">
                        <a:effectLst/>
                      </a:endParaRPr>
                    </a:p>
                    <a:p>
                      <a:pPr marL="168275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900" dirty="0">
                          <a:effectLst/>
                          <a:latin typeface="+mn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4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6990" marR="38735" algn="just">
                        <a:lnSpc>
                          <a:spcPct val="106000"/>
                        </a:lnSpc>
                        <a:spcBef>
                          <a:spcPts val="95"/>
                        </a:spcBef>
                        <a:spcAft>
                          <a:spcPts val="0"/>
                        </a:spcAft>
                      </a:pPr>
                      <a:r>
                        <a:rPr lang="es-CO" sz="1000" dirty="0">
                          <a:effectLst/>
                        </a:rPr>
                        <a:t>Si la clave  de autorización es incorrecta el sistema muestra un mensaje de “Clave de autorización incorrecta” y el sistema no elimina el usuario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0950022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693773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E6BB9774-70F7-4251-907E-86D80E30BA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3795" y="599979"/>
            <a:ext cx="9784410" cy="5658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55159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CF304E08-0840-6C4D-B809-1736BD1585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8038791"/>
              </p:ext>
            </p:extLst>
          </p:nvPr>
        </p:nvGraphicFramePr>
        <p:xfrm>
          <a:off x="3297038" y="795131"/>
          <a:ext cx="5343895" cy="5838530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658125">
                  <a:extLst>
                    <a:ext uri="{9D8B030D-6E8A-4147-A177-3AD203B41FA5}">
                      <a16:colId xmlns:a16="http://schemas.microsoft.com/office/drawing/2014/main" val="3120827593"/>
                    </a:ext>
                  </a:extLst>
                </a:gridCol>
                <a:gridCol w="2342885">
                  <a:extLst>
                    <a:ext uri="{9D8B030D-6E8A-4147-A177-3AD203B41FA5}">
                      <a16:colId xmlns:a16="http://schemas.microsoft.com/office/drawing/2014/main" val="3560936693"/>
                    </a:ext>
                  </a:extLst>
                </a:gridCol>
                <a:gridCol w="2342885">
                  <a:extLst>
                    <a:ext uri="{9D8B030D-6E8A-4147-A177-3AD203B41FA5}">
                      <a16:colId xmlns:a16="http://schemas.microsoft.com/office/drawing/2014/main" val="3680774726"/>
                    </a:ext>
                  </a:extLst>
                </a:gridCol>
              </a:tblGrid>
              <a:tr h="219207">
                <a:tc>
                  <a:txBody>
                    <a:bodyPr/>
                    <a:lstStyle/>
                    <a:p>
                      <a:pPr marL="34925">
                        <a:lnSpc>
                          <a:spcPts val="965"/>
                        </a:lnSpc>
                      </a:pPr>
                      <a:r>
                        <a:rPr lang="es-CO" sz="800">
                          <a:effectLst/>
                        </a:rPr>
                        <a:t>Casos de Uso</a:t>
                      </a:r>
                      <a:endParaRPr lang="es-CO" sz="9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019175">
                        <a:lnSpc>
                          <a:spcPts val="965"/>
                        </a:lnSpc>
                      </a:pPr>
                      <a:r>
                        <a:rPr lang="es-CO" sz="800" dirty="0">
                          <a:effectLst/>
                        </a:rPr>
                        <a:t>   </a:t>
                      </a:r>
                    </a:p>
                    <a:p>
                      <a:pPr marL="1019175">
                        <a:lnSpc>
                          <a:spcPts val="965"/>
                        </a:lnSpc>
                      </a:pPr>
                      <a:r>
                        <a:rPr lang="es-CO" sz="900" dirty="0">
                          <a:effectLst/>
                          <a:latin typeface="Calibri  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                             Modificar usuario</a:t>
                      </a: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569667"/>
                  </a:ext>
                </a:extLst>
              </a:tr>
              <a:tr h="468018">
                <a:tc>
                  <a:txBody>
                    <a:bodyPr/>
                    <a:lstStyle/>
                    <a:p>
                      <a:pPr marL="9525">
                        <a:spcBef>
                          <a:spcPts val="105"/>
                        </a:spcBef>
                        <a:spcAft>
                          <a:spcPts val="0"/>
                        </a:spcAft>
                      </a:pPr>
                      <a:endParaRPr lang="es-CO" sz="800" dirty="0">
                        <a:effectLst/>
                      </a:endParaRPr>
                    </a:p>
                    <a:p>
                      <a:pPr marL="9525">
                        <a:spcBef>
                          <a:spcPts val="105"/>
                        </a:spcBef>
                        <a:spcAft>
                          <a:spcPts val="0"/>
                        </a:spcAft>
                      </a:pPr>
                      <a:r>
                        <a:rPr lang="es-CO" sz="800" dirty="0">
                          <a:effectLst/>
                        </a:rPr>
                        <a:t>Descripción</a:t>
                      </a:r>
                      <a:endParaRPr lang="es-CO" sz="9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69215" marR="60325" algn="just">
                        <a:lnSpc>
                          <a:spcPct val="90000"/>
                        </a:lnSpc>
                        <a:spcBef>
                          <a:spcPts val="185"/>
                        </a:spcBef>
                        <a:spcAft>
                          <a:spcPts val="0"/>
                        </a:spcAft>
                      </a:pPr>
                      <a:endParaRPr lang="es-CO" sz="900" dirty="0">
                        <a:effectLst/>
                      </a:endParaRPr>
                    </a:p>
                    <a:p>
                      <a:pPr marL="69215" marR="60325" algn="just">
                        <a:lnSpc>
                          <a:spcPct val="90000"/>
                        </a:lnSpc>
                        <a:spcBef>
                          <a:spcPts val="185"/>
                        </a:spcBef>
                        <a:spcAft>
                          <a:spcPts val="0"/>
                        </a:spcAft>
                      </a:pPr>
                      <a:r>
                        <a:rPr lang="es-CO" sz="900" dirty="0">
                          <a:effectLst/>
                        </a:rPr>
                        <a:t>El sistema debe permitir al administrador modificar usuarios</a:t>
                      </a: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6538039"/>
                  </a:ext>
                </a:extLst>
              </a:tr>
              <a:tr h="375116">
                <a:tc>
                  <a:txBody>
                    <a:bodyPr/>
                    <a:lstStyle/>
                    <a:p>
                      <a:pPr>
                        <a:spcBef>
                          <a:spcPts val="565"/>
                        </a:spcBef>
                        <a:spcAft>
                          <a:spcPts val="0"/>
                        </a:spcAft>
                      </a:pPr>
                      <a:r>
                        <a:rPr lang="es-CO" sz="800">
                          <a:effectLst/>
                        </a:rPr>
                        <a:t>Precondición</a:t>
                      </a:r>
                      <a:endParaRPr lang="es-CO" sz="9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69215" marR="2540">
                        <a:lnSpc>
                          <a:spcPct val="90000"/>
                        </a:lnSpc>
                        <a:spcBef>
                          <a:spcPts val="255"/>
                        </a:spcBef>
                        <a:spcAft>
                          <a:spcPts val="0"/>
                        </a:spcAft>
                      </a:pPr>
                      <a:r>
                        <a:rPr lang="es-CO" sz="900" dirty="0">
                          <a:effectLst/>
                        </a:rPr>
                        <a:t>El usuario tiene que estar registrado en el sistema</a:t>
                      </a:r>
                      <a:endParaRPr lang="es-CO" sz="10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8533601"/>
                  </a:ext>
                </a:extLst>
              </a:tr>
              <a:tr h="175287">
                <a:tc rowSpan="5">
                  <a:txBody>
                    <a:bodyPr/>
                    <a:lstStyle/>
                    <a:p>
                      <a:pPr marL="41275">
                        <a:lnSpc>
                          <a:spcPts val="925"/>
                        </a:lnSpc>
                      </a:pPr>
                      <a:r>
                        <a:rPr lang="es-CO" sz="800" dirty="0">
                          <a:effectLst/>
                        </a:rPr>
                        <a:t>Secuencia</a:t>
                      </a:r>
                      <a:endParaRPr lang="es-CO" sz="900" dirty="0">
                        <a:effectLst/>
                      </a:endParaRPr>
                    </a:p>
                    <a:p>
                      <a:pPr marL="80645">
                        <a:spcBef>
                          <a:spcPts val="80"/>
                        </a:spcBef>
                        <a:spcAft>
                          <a:spcPts val="0"/>
                        </a:spcAft>
                      </a:pPr>
                      <a:r>
                        <a:rPr lang="es-CO" sz="800" dirty="0">
                          <a:effectLst/>
                        </a:rPr>
                        <a:t>Normal</a:t>
                      </a:r>
                      <a:endParaRPr lang="es-CO" sz="9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845"/>
                        </a:lnSpc>
                      </a:pPr>
                      <a:r>
                        <a:rPr lang="es-CO" sz="700" spc="-20" dirty="0">
                          <a:effectLst/>
                        </a:rPr>
                        <a:t>Paso</a:t>
                      </a:r>
                      <a:endParaRPr lang="es-CO" sz="9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ts val="845"/>
                        </a:lnSpc>
                      </a:pPr>
                      <a:r>
                        <a:rPr lang="es-CO" sz="700">
                          <a:effectLst/>
                        </a:rPr>
                        <a:t>Acción</a:t>
                      </a:r>
                      <a:endParaRPr lang="es-CO" sz="9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715582348"/>
                  </a:ext>
                </a:extLst>
              </a:tr>
              <a:tr h="283496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3355" algn="ctr">
                        <a:lnSpc>
                          <a:spcPts val="960"/>
                        </a:lnSpc>
                      </a:pPr>
                      <a:r>
                        <a:rPr lang="es-CO" sz="900" dirty="0">
                          <a:effectLst/>
                        </a:rPr>
                        <a:t>1</a:t>
                      </a:r>
                      <a:endParaRPr lang="es-CO" sz="9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42545">
                        <a:spcBef>
                          <a:spcPts val="45"/>
                        </a:spcBef>
                        <a:spcAft>
                          <a:spcPts val="0"/>
                        </a:spcAft>
                      </a:pPr>
                      <a:r>
                        <a:rPr lang="es-CO" sz="800" dirty="0">
                          <a:effectLst/>
                        </a:rPr>
                        <a:t>El administrador da clic al hipervínculo “Modificar usuario”</a:t>
                      </a:r>
                      <a:endParaRPr lang="es-CO" sz="900" dirty="0">
                        <a:effectLst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774530266"/>
                  </a:ext>
                </a:extLst>
              </a:tr>
              <a:tr h="482624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30"/>
                        </a:spcBef>
                      </a:pPr>
                      <a:r>
                        <a:rPr lang="es-CO" sz="700" dirty="0">
                          <a:effectLst/>
                        </a:rPr>
                        <a:t> </a:t>
                      </a:r>
                      <a:endParaRPr lang="es-CO" sz="900" dirty="0">
                        <a:effectLst/>
                      </a:endParaRPr>
                    </a:p>
                    <a:p>
                      <a:pPr marL="173355" algn="ctr"/>
                      <a:r>
                        <a:rPr lang="es-CO" sz="900" dirty="0">
                          <a:effectLst/>
                        </a:rPr>
                        <a:t>2</a:t>
                      </a:r>
                      <a:endParaRPr lang="es-CO" sz="9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42545" marR="40640" algn="just">
                        <a:lnSpc>
                          <a:spcPct val="92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s-CO" sz="1000" dirty="0">
                          <a:effectLst/>
                          <a:latin typeface="+mn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El sistema pide ingresar el nombre de usuario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186590003"/>
                  </a:ext>
                </a:extLst>
              </a:tr>
              <a:tr h="420665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3355" algn="ctr">
                        <a:lnSpc>
                          <a:spcPts val="1075"/>
                        </a:lnSpc>
                      </a:pPr>
                      <a:r>
                        <a:rPr lang="es-CO" sz="900" dirty="0">
                          <a:effectLst/>
                        </a:rPr>
                        <a:t>3</a:t>
                      </a:r>
                      <a:endParaRPr lang="es-CO" sz="9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42545">
                        <a:lnSpc>
                          <a:spcPct val="92000"/>
                        </a:lnSpc>
                        <a:spcBef>
                          <a:spcPts val="130"/>
                        </a:spcBef>
                        <a:spcAft>
                          <a:spcPts val="0"/>
                        </a:spcAft>
                      </a:pPr>
                      <a:r>
                        <a:rPr lang="es-CO" sz="1000" dirty="0">
                          <a:effectLst/>
                        </a:rPr>
                        <a:t>El sistema valida los datos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216119899"/>
                  </a:ext>
                </a:extLst>
              </a:tr>
              <a:tr h="557326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45"/>
                        </a:spcBef>
                      </a:pPr>
                      <a:r>
                        <a:rPr lang="es-CO" sz="1000" dirty="0">
                          <a:effectLst/>
                        </a:rPr>
                        <a:t> </a:t>
                      </a:r>
                      <a:endParaRPr lang="es-CO" sz="900" dirty="0">
                        <a:effectLst/>
                      </a:endParaRPr>
                    </a:p>
                    <a:p>
                      <a:pPr marL="173355" algn="ctr">
                        <a:spcBef>
                          <a:spcPts val="5"/>
                        </a:spcBef>
                        <a:spcAft>
                          <a:spcPts val="0"/>
                        </a:spcAft>
                      </a:pPr>
                      <a:r>
                        <a:rPr lang="es-CO" sz="900" dirty="0">
                          <a:effectLst/>
                        </a:rPr>
                        <a:t>4</a:t>
                      </a:r>
                      <a:endParaRPr lang="es-CO" sz="9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42545" marR="32385" algn="just">
                        <a:lnSpc>
                          <a:spcPct val="92000"/>
                        </a:lnSpc>
                        <a:spcBef>
                          <a:spcPts val="265"/>
                        </a:spcBef>
                        <a:spcAft>
                          <a:spcPts val="0"/>
                        </a:spcAft>
                      </a:pPr>
                      <a:r>
                        <a:rPr lang="es-CO" sz="900" dirty="0">
                          <a:effectLst/>
                        </a:rPr>
                        <a:t>El administrador selecciona el campo o los campos a modificar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681091914"/>
                  </a:ext>
                </a:extLst>
              </a:tr>
              <a:tr h="479727">
                <a:tc>
                  <a:txBody>
                    <a:bodyPr/>
                    <a:lstStyle/>
                    <a:p>
                      <a:pPr marL="80645">
                        <a:spcBef>
                          <a:spcPts val="80"/>
                        </a:spcBef>
                        <a:spcAft>
                          <a:spcPts val="0"/>
                        </a:spcAft>
                      </a:pPr>
                      <a:endParaRPr lang="es-CO" sz="9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3355" algn="ctr">
                        <a:spcBef>
                          <a:spcPts val="5"/>
                        </a:spcBef>
                        <a:spcAft>
                          <a:spcPts val="0"/>
                        </a:spcAft>
                      </a:pPr>
                      <a:r>
                        <a:rPr lang="es-CO" sz="900" dirty="0">
                          <a:effectLst/>
                          <a:latin typeface="+mn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5</a:t>
                      </a:r>
                    </a:p>
                  </a:txBody>
                  <a:tcPr marL="0" marR="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42545" marR="32385" algn="just">
                        <a:lnSpc>
                          <a:spcPct val="92000"/>
                        </a:lnSpc>
                        <a:spcBef>
                          <a:spcPts val="265"/>
                        </a:spcBef>
                        <a:spcAft>
                          <a:spcPts val="0"/>
                        </a:spcAft>
                      </a:pPr>
                      <a:r>
                        <a:rPr lang="es-CO" sz="900" dirty="0">
                          <a:effectLst/>
                        </a:rPr>
                        <a:t>El administrador actualiza los datos 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79010348"/>
                  </a:ext>
                </a:extLst>
              </a:tr>
              <a:tr h="479727">
                <a:tc>
                  <a:txBody>
                    <a:bodyPr/>
                    <a:lstStyle/>
                    <a:p>
                      <a:pPr marL="80645">
                        <a:spcBef>
                          <a:spcPts val="80"/>
                        </a:spcBef>
                        <a:spcAft>
                          <a:spcPts val="0"/>
                        </a:spcAft>
                      </a:pPr>
                      <a:endParaRPr lang="es-CO" sz="9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3355" algn="ctr">
                        <a:spcBef>
                          <a:spcPts val="5"/>
                        </a:spcBef>
                        <a:spcAft>
                          <a:spcPts val="0"/>
                        </a:spcAft>
                      </a:pPr>
                      <a:r>
                        <a:rPr lang="es-CO" sz="900" dirty="0">
                          <a:effectLst/>
                          <a:latin typeface="+mn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6</a:t>
                      </a:r>
                    </a:p>
                  </a:txBody>
                  <a:tcPr marL="0" marR="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42545" marR="32385" lvl="0" indent="0" algn="just" defTabSz="457200" rtl="0" eaLnBrk="1" fontAlgn="auto" latinLnBrk="0" hangingPunct="1">
                        <a:lnSpc>
                          <a:spcPct val="92000"/>
                        </a:lnSpc>
                        <a:spcBef>
                          <a:spcPts val="26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900" dirty="0">
                          <a:effectLst/>
                        </a:rPr>
                        <a:t>El sistema pide el ingreso de la clave de autorización</a:t>
                      </a:r>
                    </a:p>
                    <a:p>
                      <a:pPr marL="42545" marR="32385" algn="just">
                        <a:lnSpc>
                          <a:spcPct val="92000"/>
                        </a:lnSpc>
                        <a:spcBef>
                          <a:spcPts val="265"/>
                        </a:spcBef>
                        <a:spcAft>
                          <a:spcPts val="0"/>
                        </a:spcAft>
                      </a:pPr>
                      <a:endParaRPr lang="es-CO" sz="900" dirty="0">
                        <a:effectLst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686340124"/>
                  </a:ext>
                </a:extLst>
              </a:tr>
              <a:tr h="479727">
                <a:tc>
                  <a:txBody>
                    <a:bodyPr/>
                    <a:lstStyle/>
                    <a:p>
                      <a:pPr marL="80645">
                        <a:spcBef>
                          <a:spcPts val="80"/>
                        </a:spcBef>
                        <a:spcAft>
                          <a:spcPts val="0"/>
                        </a:spcAft>
                      </a:pPr>
                      <a:endParaRPr lang="es-CO" sz="9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3355" algn="ctr">
                        <a:spcBef>
                          <a:spcPts val="5"/>
                        </a:spcBef>
                        <a:spcAft>
                          <a:spcPts val="0"/>
                        </a:spcAft>
                      </a:pPr>
                      <a:r>
                        <a:rPr lang="es-CO" sz="900" dirty="0">
                          <a:effectLst/>
                          <a:latin typeface="+mn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7</a:t>
                      </a:r>
                    </a:p>
                  </a:txBody>
                  <a:tcPr marL="0" marR="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42545" marR="32385" algn="just">
                        <a:lnSpc>
                          <a:spcPct val="92000"/>
                        </a:lnSpc>
                        <a:spcBef>
                          <a:spcPts val="265"/>
                        </a:spcBef>
                        <a:spcAft>
                          <a:spcPts val="0"/>
                        </a:spcAft>
                      </a:pPr>
                      <a:r>
                        <a:rPr lang="es-CO" sz="900" dirty="0">
                          <a:effectLst/>
                        </a:rPr>
                        <a:t>El sistema valida la información 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4014434403"/>
                  </a:ext>
                </a:extLst>
              </a:tr>
              <a:tr h="399655">
                <a:tc>
                  <a:txBody>
                    <a:bodyPr/>
                    <a:lstStyle/>
                    <a:p>
                      <a:pPr marL="67310">
                        <a:spcBef>
                          <a:spcPts val="265"/>
                        </a:spcBef>
                        <a:spcAft>
                          <a:spcPts val="0"/>
                        </a:spcAft>
                      </a:pPr>
                      <a:r>
                        <a:rPr lang="es-CO" sz="800">
                          <a:effectLst/>
                        </a:rPr>
                        <a:t>Post Condición</a:t>
                      </a:r>
                      <a:endParaRPr lang="es-CO" sz="9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52705">
                        <a:lnSpc>
                          <a:spcPct val="92000"/>
                        </a:lnSpc>
                        <a:spcBef>
                          <a:spcPts val="15"/>
                        </a:spcBef>
                        <a:spcAft>
                          <a:spcPts val="0"/>
                        </a:spcAft>
                      </a:pPr>
                      <a:r>
                        <a:rPr lang="es-CO" sz="800" dirty="0">
                          <a:effectLst/>
                        </a:rPr>
                        <a:t>Los datos modificados quedan guardados en el sistema</a:t>
                      </a:r>
                      <a:endParaRPr lang="es-CO" sz="900" dirty="0">
                        <a:effectLst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6203859"/>
                  </a:ext>
                </a:extLst>
              </a:tr>
              <a:tr h="188142">
                <a:tc rowSpan="2">
                  <a:txBody>
                    <a:bodyPr/>
                    <a:lstStyle/>
                    <a:p>
                      <a:pPr marL="41275">
                        <a:lnSpc>
                          <a:spcPts val="1025"/>
                        </a:lnSpc>
                      </a:pPr>
                      <a:r>
                        <a:rPr lang="es-CO" sz="800" dirty="0">
                          <a:effectLst/>
                        </a:rPr>
                        <a:t>Excepciones</a:t>
                      </a:r>
                      <a:endParaRPr lang="es-CO" sz="9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945"/>
                        </a:lnSpc>
                      </a:pPr>
                      <a:r>
                        <a:rPr lang="es-CO" sz="700" spc="-20" dirty="0">
                          <a:effectLst/>
                        </a:rPr>
                        <a:t>Paso</a:t>
                      </a:r>
                      <a:endParaRPr lang="es-CO" sz="9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945"/>
                        </a:lnSpc>
                      </a:pPr>
                      <a:r>
                        <a:rPr lang="es-CO" sz="700" dirty="0">
                          <a:effectLst/>
                        </a:rPr>
                        <a:t> </a:t>
                      </a:r>
                      <a:endParaRPr lang="es-CO" sz="9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2581952"/>
                  </a:ext>
                </a:extLst>
              </a:tr>
              <a:tr h="472567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60"/>
                        </a:spcBef>
                      </a:pPr>
                      <a:r>
                        <a:rPr lang="es-CO" sz="1100" dirty="0">
                          <a:effectLst/>
                        </a:rPr>
                        <a:t> </a:t>
                      </a:r>
                      <a:endParaRPr lang="es-CO" sz="900" dirty="0">
                        <a:effectLst/>
                      </a:endParaRPr>
                    </a:p>
                    <a:p>
                      <a:pPr marL="168275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900" dirty="0">
                          <a:effectLst/>
                          <a:latin typeface="+mn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7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6990" marR="38735" algn="just">
                        <a:lnSpc>
                          <a:spcPct val="106000"/>
                        </a:lnSpc>
                        <a:spcBef>
                          <a:spcPts val="95"/>
                        </a:spcBef>
                        <a:spcAft>
                          <a:spcPts val="0"/>
                        </a:spcAft>
                      </a:pPr>
                      <a:r>
                        <a:rPr lang="es-CO" sz="1000" dirty="0">
                          <a:effectLst/>
                        </a:rPr>
                        <a:t>Si la clave  de autorización es incorrecta el sistema muestra un mensaje de “Clave de autorización incorrecta” y el sistema no modifica el usuario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0950022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962551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38673BFC-CF34-43BA-836F-70676A359B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878" y="0"/>
            <a:ext cx="1032344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07280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CF304E08-0840-6C4D-B809-1736BD1585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7877880"/>
              </p:ext>
            </p:extLst>
          </p:nvPr>
        </p:nvGraphicFramePr>
        <p:xfrm>
          <a:off x="3297038" y="795131"/>
          <a:ext cx="5343895" cy="4237805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658125">
                  <a:extLst>
                    <a:ext uri="{9D8B030D-6E8A-4147-A177-3AD203B41FA5}">
                      <a16:colId xmlns:a16="http://schemas.microsoft.com/office/drawing/2014/main" val="3120827593"/>
                    </a:ext>
                  </a:extLst>
                </a:gridCol>
                <a:gridCol w="2342885">
                  <a:extLst>
                    <a:ext uri="{9D8B030D-6E8A-4147-A177-3AD203B41FA5}">
                      <a16:colId xmlns:a16="http://schemas.microsoft.com/office/drawing/2014/main" val="3560936693"/>
                    </a:ext>
                  </a:extLst>
                </a:gridCol>
                <a:gridCol w="2342885">
                  <a:extLst>
                    <a:ext uri="{9D8B030D-6E8A-4147-A177-3AD203B41FA5}">
                      <a16:colId xmlns:a16="http://schemas.microsoft.com/office/drawing/2014/main" val="3680774726"/>
                    </a:ext>
                  </a:extLst>
                </a:gridCol>
              </a:tblGrid>
              <a:tr h="219207">
                <a:tc>
                  <a:txBody>
                    <a:bodyPr/>
                    <a:lstStyle/>
                    <a:p>
                      <a:pPr marL="34925">
                        <a:lnSpc>
                          <a:spcPts val="965"/>
                        </a:lnSpc>
                      </a:pPr>
                      <a:r>
                        <a:rPr lang="es-CO" sz="800">
                          <a:effectLst/>
                        </a:rPr>
                        <a:t>Casos de Uso</a:t>
                      </a:r>
                      <a:endParaRPr lang="es-CO" sz="9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019175">
                        <a:lnSpc>
                          <a:spcPts val="965"/>
                        </a:lnSpc>
                      </a:pPr>
                      <a:r>
                        <a:rPr lang="es-CO" sz="800" dirty="0">
                          <a:effectLst/>
                        </a:rPr>
                        <a:t>   </a:t>
                      </a:r>
                    </a:p>
                    <a:p>
                      <a:pPr marL="1019175">
                        <a:lnSpc>
                          <a:spcPts val="965"/>
                        </a:lnSpc>
                      </a:pPr>
                      <a:r>
                        <a:rPr lang="es-CO" sz="900" dirty="0">
                          <a:effectLst/>
                          <a:latin typeface="Calibri  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                     Consultar usuario</a:t>
                      </a: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569667"/>
                  </a:ext>
                </a:extLst>
              </a:tr>
              <a:tr h="468018">
                <a:tc>
                  <a:txBody>
                    <a:bodyPr/>
                    <a:lstStyle/>
                    <a:p>
                      <a:pPr marL="9525">
                        <a:spcBef>
                          <a:spcPts val="105"/>
                        </a:spcBef>
                        <a:spcAft>
                          <a:spcPts val="0"/>
                        </a:spcAft>
                      </a:pPr>
                      <a:endParaRPr lang="es-CO" sz="800" dirty="0">
                        <a:effectLst/>
                      </a:endParaRPr>
                    </a:p>
                    <a:p>
                      <a:pPr marL="9525">
                        <a:spcBef>
                          <a:spcPts val="105"/>
                        </a:spcBef>
                        <a:spcAft>
                          <a:spcPts val="0"/>
                        </a:spcAft>
                      </a:pPr>
                      <a:r>
                        <a:rPr lang="es-CO" sz="800" dirty="0">
                          <a:effectLst/>
                        </a:rPr>
                        <a:t>Descripción</a:t>
                      </a:r>
                      <a:endParaRPr lang="es-CO" sz="9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69215" marR="60325" algn="just">
                        <a:lnSpc>
                          <a:spcPct val="90000"/>
                        </a:lnSpc>
                        <a:spcBef>
                          <a:spcPts val="185"/>
                        </a:spcBef>
                        <a:spcAft>
                          <a:spcPts val="0"/>
                        </a:spcAft>
                      </a:pPr>
                      <a:endParaRPr lang="es-CO" sz="900" dirty="0">
                        <a:effectLst/>
                      </a:endParaRPr>
                    </a:p>
                    <a:p>
                      <a:pPr marL="69215" marR="60325" algn="just">
                        <a:lnSpc>
                          <a:spcPct val="90000"/>
                        </a:lnSpc>
                        <a:spcBef>
                          <a:spcPts val="185"/>
                        </a:spcBef>
                        <a:spcAft>
                          <a:spcPts val="0"/>
                        </a:spcAft>
                      </a:pPr>
                      <a:r>
                        <a:rPr lang="es-CO" sz="900" dirty="0">
                          <a:effectLst/>
                        </a:rPr>
                        <a:t>El sistema debe permitir consultar usuarios</a:t>
                      </a: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6538039"/>
                  </a:ext>
                </a:extLst>
              </a:tr>
              <a:tr h="375116">
                <a:tc>
                  <a:txBody>
                    <a:bodyPr/>
                    <a:lstStyle/>
                    <a:p>
                      <a:pPr>
                        <a:spcBef>
                          <a:spcPts val="565"/>
                        </a:spcBef>
                        <a:spcAft>
                          <a:spcPts val="0"/>
                        </a:spcAft>
                      </a:pPr>
                      <a:r>
                        <a:rPr lang="es-CO" sz="800">
                          <a:effectLst/>
                        </a:rPr>
                        <a:t>Precondición</a:t>
                      </a:r>
                      <a:endParaRPr lang="es-CO" sz="9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69215" marR="2540">
                        <a:lnSpc>
                          <a:spcPct val="90000"/>
                        </a:lnSpc>
                        <a:spcBef>
                          <a:spcPts val="255"/>
                        </a:spcBef>
                        <a:spcAft>
                          <a:spcPts val="0"/>
                        </a:spcAft>
                      </a:pPr>
                      <a:r>
                        <a:rPr lang="es-CO" sz="900" dirty="0">
                          <a:effectLst/>
                        </a:rPr>
                        <a:t>El usuario tiene que estar registrado en el sistema</a:t>
                      </a:r>
                      <a:endParaRPr lang="es-CO" sz="10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8533601"/>
                  </a:ext>
                </a:extLst>
              </a:tr>
              <a:tr h="175287">
                <a:tc rowSpan="5">
                  <a:txBody>
                    <a:bodyPr/>
                    <a:lstStyle/>
                    <a:p>
                      <a:pPr marL="41275">
                        <a:lnSpc>
                          <a:spcPts val="925"/>
                        </a:lnSpc>
                      </a:pPr>
                      <a:r>
                        <a:rPr lang="es-CO" sz="800" dirty="0">
                          <a:effectLst/>
                        </a:rPr>
                        <a:t>Secuencia</a:t>
                      </a:r>
                      <a:endParaRPr lang="es-CO" sz="900" dirty="0">
                        <a:effectLst/>
                      </a:endParaRPr>
                    </a:p>
                    <a:p>
                      <a:pPr marL="80645">
                        <a:spcBef>
                          <a:spcPts val="80"/>
                        </a:spcBef>
                        <a:spcAft>
                          <a:spcPts val="0"/>
                        </a:spcAft>
                      </a:pPr>
                      <a:r>
                        <a:rPr lang="es-CO" sz="800" dirty="0">
                          <a:effectLst/>
                        </a:rPr>
                        <a:t>Normal</a:t>
                      </a:r>
                      <a:endParaRPr lang="es-CO" sz="9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845"/>
                        </a:lnSpc>
                      </a:pPr>
                      <a:r>
                        <a:rPr lang="es-CO" sz="700" spc="-20" dirty="0">
                          <a:effectLst/>
                        </a:rPr>
                        <a:t>Paso</a:t>
                      </a:r>
                      <a:endParaRPr lang="es-CO" sz="9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ts val="845"/>
                        </a:lnSpc>
                      </a:pPr>
                      <a:r>
                        <a:rPr lang="es-CO" sz="700">
                          <a:effectLst/>
                        </a:rPr>
                        <a:t>Acción</a:t>
                      </a:r>
                      <a:endParaRPr lang="es-CO" sz="9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715582348"/>
                  </a:ext>
                </a:extLst>
              </a:tr>
              <a:tr h="283496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3355" algn="ctr">
                        <a:lnSpc>
                          <a:spcPts val="960"/>
                        </a:lnSpc>
                      </a:pPr>
                      <a:r>
                        <a:rPr lang="es-CO" sz="900" dirty="0">
                          <a:effectLst/>
                        </a:rPr>
                        <a:t>1</a:t>
                      </a:r>
                      <a:endParaRPr lang="es-CO" sz="9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42545">
                        <a:spcBef>
                          <a:spcPts val="45"/>
                        </a:spcBef>
                        <a:spcAft>
                          <a:spcPts val="0"/>
                        </a:spcAft>
                      </a:pPr>
                      <a:r>
                        <a:rPr lang="es-CO" sz="800" dirty="0">
                          <a:effectLst/>
                        </a:rPr>
                        <a:t>El empleado selecciona “Consultar usuario”</a:t>
                      </a:r>
                      <a:endParaRPr lang="es-CO" sz="900" dirty="0">
                        <a:effectLst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774530266"/>
                  </a:ext>
                </a:extLst>
              </a:tr>
              <a:tr h="482624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30"/>
                        </a:spcBef>
                      </a:pPr>
                      <a:r>
                        <a:rPr lang="es-CO" sz="700" dirty="0">
                          <a:effectLst/>
                        </a:rPr>
                        <a:t> </a:t>
                      </a:r>
                      <a:endParaRPr lang="es-CO" sz="900" dirty="0">
                        <a:effectLst/>
                      </a:endParaRPr>
                    </a:p>
                    <a:p>
                      <a:pPr marL="173355" algn="ctr"/>
                      <a:r>
                        <a:rPr lang="es-CO" sz="900" dirty="0">
                          <a:effectLst/>
                        </a:rPr>
                        <a:t>2</a:t>
                      </a:r>
                      <a:endParaRPr lang="es-CO" sz="9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42545" marR="40640" algn="just">
                        <a:lnSpc>
                          <a:spcPct val="92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s-CO" sz="1000" dirty="0">
                          <a:effectLst/>
                          <a:latin typeface="+mn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Se abre una lista con los usuarios registrados en el sistema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186590003"/>
                  </a:ext>
                </a:extLst>
              </a:tr>
              <a:tr h="420665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3355" algn="ctr">
                        <a:lnSpc>
                          <a:spcPts val="1075"/>
                        </a:lnSpc>
                      </a:pPr>
                      <a:r>
                        <a:rPr lang="es-CO" sz="900" dirty="0">
                          <a:effectLst/>
                        </a:rPr>
                        <a:t>3</a:t>
                      </a:r>
                      <a:endParaRPr lang="es-CO" sz="9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42545">
                        <a:lnSpc>
                          <a:spcPct val="92000"/>
                        </a:lnSpc>
                        <a:spcBef>
                          <a:spcPts val="130"/>
                        </a:spcBef>
                        <a:spcAft>
                          <a:spcPts val="0"/>
                        </a:spcAft>
                      </a:pPr>
                      <a:r>
                        <a:rPr lang="es-CO" sz="1000" dirty="0">
                          <a:effectLst/>
                        </a:rPr>
                        <a:t>El empleado da clic al usuario que desea o ingresa su nombre en la barra de búsqueda 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216119899"/>
                  </a:ext>
                </a:extLst>
              </a:tr>
              <a:tr h="557326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45"/>
                        </a:spcBef>
                      </a:pPr>
                      <a:r>
                        <a:rPr lang="es-CO" sz="1000" dirty="0">
                          <a:effectLst/>
                        </a:rPr>
                        <a:t> </a:t>
                      </a:r>
                      <a:endParaRPr lang="es-CO" sz="900" dirty="0">
                        <a:effectLst/>
                      </a:endParaRPr>
                    </a:p>
                    <a:p>
                      <a:pPr marL="173355" algn="ctr">
                        <a:spcBef>
                          <a:spcPts val="5"/>
                        </a:spcBef>
                        <a:spcAft>
                          <a:spcPts val="0"/>
                        </a:spcAft>
                      </a:pPr>
                      <a:r>
                        <a:rPr lang="es-CO" sz="900" dirty="0">
                          <a:effectLst/>
                        </a:rPr>
                        <a:t>4</a:t>
                      </a:r>
                      <a:endParaRPr lang="es-CO" sz="9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42545" marR="32385" algn="just">
                        <a:lnSpc>
                          <a:spcPct val="92000"/>
                        </a:lnSpc>
                        <a:spcBef>
                          <a:spcPts val="265"/>
                        </a:spcBef>
                        <a:spcAft>
                          <a:spcPts val="0"/>
                        </a:spcAft>
                      </a:pPr>
                      <a:r>
                        <a:rPr lang="es-CO" sz="900" dirty="0">
                          <a:effectLst/>
                        </a:rPr>
                        <a:t>El empleado da clic al usuario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681091914"/>
                  </a:ext>
                </a:extLst>
              </a:tr>
              <a:tr h="399655">
                <a:tc>
                  <a:txBody>
                    <a:bodyPr/>
                    <a:lstStyle/>
                    <a:p>
                      <a:pPr marL="67310">
                        <a:spcBef>
                          <a:spcPts val="265"/>
                        </a:spcBef>
                        <a:spcAft>
                          <a:spcPts val="0"/>
                        </a:spcAft>
                      </a:pPr>
                      <a:r>
                        <a:rPr lang="es-CO" sz="800">
                          <a:effectLst/>
                        </a:rPr>
                        <a:t>Post Condición</a:t>
                      </a:r>
                      <a:endParaRPr lang="es-CO" sz="9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52705">
                        <a:lnSpc>
                          <a:spcPct val="92000"/>
                        </a:lnSpc>
                        <a:spcBef>
                          <a:spcPts val="15"/>
                        </a:spcBef>
                        <a:spcAft>
                          <a:spcPts val="0"/>
                        </a:spcAft>
                      </a:pPr>
                      <a:r>
                        <a:rPr lang="es-CO" sz="800" dirty="0">
                          <a:effectLst/>
                        </a:rPr>
                        <a:t>Se abre el perfil del usuario con sus datos</a:t>
                      </a:r>
                      <a:endParaRPr lang="es-CO" sz="900" dirty="0">
                        <a:effectLst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6203859"/>
                  </a:ext>
                </a:extLst>
              </a:tr>
              <a:tr h="188142">
                <a:tc rowSpan="2">
                  <a:txBody>
                    <a:bodyPr/>
                    <a:lstStyle/>
                    <a:p>
                      <a:pPr marL="41275">
                        <a:lnSpc>
                          <a:spcPts val="1025"/>
                        </a:lnSpc>
                      </a:pPr>
                      <a:r>
                        <a:rPr lang="es-CO" sz="800" dirty="0">
                          <a:effectLst/>
                        </a:rPr>
                        <a:t>Excepciones</a:t>
                      </a:r>
                      <a:endParaRPr lang="es-CO" sz="9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945"/>
                        </a:lnSpc>
                      </a:pPr>
                      <a:r>
                        <a:rPr lang="es-CO" sz="700" spc="-20" dirty="0">
                          <a:effectLst/>
                        </a:rPr>
                        <a:t>Paso</a:t>
                      </a:r>
                      <a:endParaRPr lang="es-CO" sz="9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945"/>
                        </a:lnSpc>
                      </a:pPr>
                      <a:r>
                        <a:rPr lang="es-CO" sz="700" dirty="0">
                          <a:effectLst/>
                        </a:rPr>
                        <a:t> </a:t>
                      </a:r>
                      <a:endParaRPr lang="es-CO" sz="9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2581952"/>
                  </a:ext>
                </a:extLst>
              </a:tr>
              <a:tr h="472567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60"/>
                        </a:spcBef>
                      </a:pPr>
                      <a:r>
                        <a:rPr lang="es-CO" sz="1100" dirty="0">
                          <a:effectLst/>
                        </a:rPr>
                        <a:t> </a:t>
                      </a:r>
                      <a:endParaRPr lang="es-CO" sz="900" dirty="0">
                        <a:effectLst/>
                      </a:endParaRPr>
                    </a:p>
                    <a:p>
                      <a:pPr marL="168275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900" dirty="0">
                          <a:effectLst/>
                          <a:latin typeface="+mn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3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6990" marR="38735" algn="just">
                        <a:lnSpc>
                          <a:spcPct val="106000"/>
                        </a:lnSpc>
                        <a:spcBef>
                          <a:spcPts val="95"/>
                        </a:spcBef>
                        <a:spcAft>
                          <a:spcPts val="0"/>
                        </a:spcAft>
                      </a:pPr>
                      <a:r>
                        <a:rPr lang="es-CO" sz="1000" dirty="0">
                          <a:effectLst/>
                        </a:rPr>
                        <a:t>Si el nombre de usuario no se encuentra en el sistema se enviara un mensaje de “El usuario no se encuentra en el sistema”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0950022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961590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59D4E1BC-C044-4347-9C93-0F018C48E8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1153" y="774293"/>
            <a:ext cx="7069694" cy="5309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1198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5A40D602-8BCF-8F47-A377-DE9B48C8238E}"/>
              </a:ext>
            </a:extLst>
          </p:cNvPr>
          <p:cNvSpPr txBox="1">
            <a:spLocks noGrp="1"/>
          </p:cNvSpPr>
          <p:nvPr>
            <p:ph type="title"/>
          </p:nvPr>
        </p:nvSpPr>
        <p:spPr bwMode="auto">
          <a:xfrm>
            <a:off x="4101245" y="0"/>
            <a:ext cx="3989510" cy="575207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defRPr/>
            </a:pPr>
            <a:r>
              <a:rPr lang="es-CO" altLang="es-CO" sz="2800" b="1" dirty="0">
                <a:solidFill>
                  <a:srgbClr val="FA9930"/>
                </a:solidFill>
                <a:latin typeface="+mn-lt"/>
              </a:rPr>
              <a:t>Módulo productos</a:t>
            </a: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CF304E08-0840-6C4D-B809-1736BD1585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6566285"/>
              </p:ext>
            </p:extLst>
          </p:nvPr>
        </p:nvGraphicFramePr>
        <p:xfrm>
          <a:off x="3376552" y="938152"/>
          <a:ext cx="5343895" cy="4671437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658125">
                  <a:extLst>
                    <a:ext uri="{9D8B030D-6E8A-4147-A177-3AD203B41FA5}">
                      <a16:colId xmlns:a16="http://schemas.microsoft.com/office/drawing/2014/main" val="3120827593"/>
                    </a:ext>
                  </a:extLst>
                </a:gridCol>
                <a:gridCol w="2342885">
                  <a:extLst>
                    <a:ext uri="{9D8B030D-6E8A-4147-A177-3AD203B41FA5}">
                      <a16:colId xmlns:a16="http://schemas.microsoft.com/office/drawing/2014/main" val="3560936693"/>
                    </a:ext>
                  </a:extLst>
                </a:gridCol>
                <a:gridCol w="2342885">
                  <a:extLst>
                    <a:ext uri="{9D8B030D-6E8A-4147-A177-3AD203B41FA5}">
                      <a16:colId xmlns:a16="http://schemas.microsoft.com/office/drawing/2014/main" val="3680774726"/>
                    </a:ext>
                  </a:extLst>
                </a:gridCol>
              </a:tblGrid>
              <a:tr h="288220">
                <a:tc>
                  <a:txBody>
                    <a:bodyPr/>
                    <a:lstStyle/>
                    <a:p>
                      <a:pPr marL="34925">
                        <a:lnSpc>
                          <a:spcPts val="965"/>
                        </a:lnSpc>
                      </a:pPr>
                      <a:r>
                        <a:rPr lang="es-CO" sz="800">
                          <a:effectLst/>
                        </a:rPr>
                        <a:t>Casos de Uso</a:t>
                      </a:r>
                      <a:endParaRPr lang="es-CO" sz="9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019175">
                        <a:lnSpc>
                          <a:spcPts val="965"/>
                        </a:lnSpc>
                      </a:pPr>
                      <a:r>
                        <a:rPr lang="es-CO" sz="800" dirty="0">
                          <a:effectLst/>
                        </a:rPr>
                        <a:t>   </a:t>
                      </a:r>
                    </a:p>
                    <a:p>
                      <a:pPr marL="1019175">
                        <a:lnSpc>
                          <a:spcPts val="965"/>
                        </a:lnSpc>
                      </a:pPr>
                      <a:r>
                        <a:rPr lang="es-CO" sz="800" dirty="0">
                          <a:effectLst/>
                        </a:rPr>
                        <a:t>                        Ingreso de productos</a:t>
                      </a:r>
                      <a:endParaRPr lang="es-CO" sz="9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569667"/>
                  </a:ext>
                </a:extLst>
              </a:tr>
              <a:tr h="468018">
                <a:tc>
                  <a:txBody>
                    <a:bodyPr/>
                    <a:lstStyle/>
                    <a:p>
                      <a:pPr marL="9525">
                        <a:spcBef>
                          <a:spcPts val="105"/>
                        </a:spcBef>
                        <a:spcAft>
                          <a:spcPts val="0"/>
                        </a:spcAft>
                      </a:pPr>
                      <a:endParaRPr lang="es-CO" sz="800" dirty="0">
                        <a:effectLst/>
                      </a:endParaRPr>
                    </a:p>
                    <a:p>
                      <a:pPr marL="9525">
                        <a:spcBef>
                          <a:spcPts val="105"/>
                        </a:spcBef>
                        <a:spcAft>
                          <a:spcPts val="0"/>
                        </a:spcAft>
                      </a:pPr>
                      <a:r>
                        <a:rPr lang="es-CO" sz="800" dirty="0">
                          <a:effectLst/>
                        </a:rPr>
                        <a:t>Descripción</a:t>
                      </a:r>
                      <a:endParaRPr lang="es-CO" sz="9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69215" marR="60325" algn="just">
                        <a:lnSpc>
                          <a:spcPct val="90000"/>
                        </a:lnSpc>
                        <a:spcBef>
                          <a:spcPts val="185"/>
                        </a:spcBef>
                        <a:spcAft>
                          <a:spcPts val="0"/>
                        </a:spcAft>
                      </a:pPr>
                      <a:endParaRPr lang="es-CO" sz="800" dirty="0">
                        <a:effectLst/>
                      </a:endParaRPr>
                    </a:p>
                    <a:p>
                      <a:pPr marL="69215" marR="60325" algn="just">
                        <a:lnSpc>
                          <a:spcPct val="90000"/>
                        </a:lnSpc>
                        <a:spcBef>
                          <a:spcPts val="185"/>
                        </a:spcBef>
                        <a:spcAft>
                          <a:spcPts val="0"/>
                        </a:spcAft>
                      </a:pPr>
                      <a:r>
                        <a:rPr lang="es-CO" sz="800" dirty="0">
                          <a:effectLst/>
                        </a:rPr>
                        <a:t>El sistema debe permitir al usuario ingresar productos </a:t>
                      </a: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6538039"/>
                  </a:ext>
                </a:extLst>
              </a:tr>
              <a:tr h="375116">
                <a:tc>
                  <a:txBody>
                    <a:bodyPr/>
                    <a:lstStyle/>
                    <a:p>
                      <a:pPr>
                        <a:spcBef>
                          <a:spcPts val="565"/>
                        </a:spcBef>
                        <a:spcAft>
                          <a:spcPts val="0"/>
                        </a:spcAft>
                      </a:pPr>
                      <a:r>
                        <a:rPr lang="es-CO" sz="800">
                          <a:effectLst/>
                        </a:rPr>
                        <a:t>Precondición</a:t>
                      </a:r>
                      <a:endParaRPr lang="es-CO" sz="9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69215" marR="2540">
                        <a:lnSpc>
                          <a:spcPct val="90000"/>
                        </a:lnSpc>
                        <a:spcBef>
                          <a:spcPts val="255"/>
                        </a:spcBef>
                        <a:spcAft>
                          <a:spcPts val="0"/>
                        </a:spcAft>
                      </a:pPr>
                      <a:r>
                        <a:rPr lang="es-CO" sz="800" dirty="0">
                          <a:effectLst/>
                        </a:rPr>
                        <a:t>El usuario debe tener autorización para ingresa productos</a:t>
                      </a:r>
                      <a:endParaRPr lang="es-CO" sz="9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8533601"/>
                  </a:ext>
                </a:extLst>
              </a:tr>
              <a:tr h="175287">
                <a:tc rowSpan="5">
                  <a:txBody>
                    <a:bodyPr/>
                    <a:lstStyle/>
                    <a:p>
                      <a:pPr marL="41275">
                        <a:lnSpc>
                          <a:spcPts val="925"/>
                        </a:lnSpc>
                      </a:pPr>
                      <a:r>
                        <a:rPr lang="es-CO" sz="800" dirty="0">
                          <a:effectLst/>
                        </a:rPr>
                        <a:t>Secuencia</a:t>
                      </a:r>
                      <a:endParaRPr lang="es-CO" sz="900" dirty="0">
                        <a:effectLst/>
                      </a:endParaRPr>
                    </a:p>
                    <a:p>
                      <a:pPr marL="80645">
                        <a:spcBef>
                          <a:spcPts val="80"/>
                        </a:spcBef>
                        <a:spcAft>
                          <a:spcPts val="0"/>
                        </a:spcAft>
                      </a:pPr>
                      <a:r>
                        <a:rPr lang="es-CO" sz="800" dirty="0">
                          <a:effectLst/>
                        </a:rPr>
                        <a:t>Normal</a:t>
                      </a:r>
                      <a:endParaRPr lang="es-CO" sz="9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845"/>
                        </a:lnSpc>
                      </a:pPr>
                      <a:r>
                        <a:rPr lang="es-CO" sz="700" spc="-20" dirty="0">
                          <a:effectLst/>
                        </a:rPr>
                        <a:t>Paso</a:t>
                      </a:r>
                      <a:endParaRPr lang="es-CO" sz="9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ts val="845"/>
                        </a:lnSpc>
                      </a:pPr>
                      <a:r>
                        <a:rPr lang="es-CO" sz="700">
                          <a:effectLst/>
                        </a:rPr>
                        <a:t>Acción</a:t>
                      </a:r>
                      <a:endParaRPr lang="es-CO" sz="9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715582348"/>
                  </a:ext>
                </a:extLst>
              </a:tr>
              <a:tr h="283496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3355" algn="ctr">
                        <a:lnSpc>
                          <a:spcPts val="960"/>
                        </a:lnSpc>
                      </a:pPr>
                      <a:r>
                        <a:rPr lang="es-CO" sz="700" dirty="0">
                          <a:effectLst/>
                        </a:rPr>
                        <a:t>1</a:t>
                      </a:r>
                      <a:endParaRPr lang="es-CO" sz="9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42545">
                        <a:spcBef>
                          <a:spcPts val="45"/>
                        </a:spcBef>
                        <a:spcAft>
                          <a:spcPts val="0"/>
                        </a:spcAft>
                      </a:pPr>
                      <a:r>
                        <a:rPr lang="es-CO" sz="800" dirty="0">
                          <a:effectLst/>
                        </a:rPr>
                        <a:t> El usuario autorizado le da </a:t>
                      </a:r>
                      <a:r>
                        <a:rPr lang="es-CO" sz="800" dirty="0" err="1">
                          <a:effectLst/>
                        </a:rPr>
                        <a:t>click</a:t>
                      </a:r>
                      <a:r>
                        <a:rPr lang="es-CO" sz="800" dirty="0">
                          <a:effectLst/>
                        </a:rPr>
                        <a:t> al botón ingresar producto</a:t>
                      </a:r>
                      <a:endParaRPr lang="es-CO" sz="900" dirty="0">
                        <a:effectLst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774530266"/>
                  </a:ext>
                </a:extLst>
              </a:tr>
              <a:tr h="482624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30"/>
                        </a:spcBef>
                      </a:pPr>
                      <a:r>
                        <a:rPr lang="es-CO" sz="700" dirty="0">
                          <a:effectLst/>
                        </a:rPr>
                        <a:t> </a:t>
                      </a:r>
                      <a:endParaRPr lang="es-CO" sz="900" dirty="0">
                        <a:effectLst/>
                      </a:endParaRPr>
                    </a:p>
                    <a:p>
                      <a:pPr marL="173355" algn="ctr"/>
                      <a:r>
                        <a:rPr lang="es-CO" sz="700" dirty="0">
                          <a:effectLst/>
                        </a:rPr>
                        <a:t>2</a:t>
                      </a:r>
                      <a:endParaRPr lang="es-CO" sz="9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42545" marR="40640" algn="just">
                        <a:lnSpc>
                          <a:spcPct val="92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s-CO" sz="800" dirty="0">
                          <a:effectLst/>
                        </a:rPr>
                        <a:t>El sistema le muestra un formulario al usuario con los campos de “Nombre de bebida”, “Receta”, “Tipo de bebida fría/caliente”,  y “Contenido, además encontrara un campo para subir la imagen del producto </a:t>
                      </a:r>
                      <a:endParaRPr lang="es-CO" sz="9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186590003"/>
                  </a:ext>
                </a:extLst>
              </a:tr>
              <a:tr h="420665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3355" algn="ctr">
                        <a:lnSpc>
                          <a:spcPts val="1075"/>
                        </a:lnSpc>
                      </a:pPr>
                      <a:r>
                        <a:rPr lang="es-CO" sz="700" dirty="0">
                          <a:effectLst/>
                        </a:rPr>
                        <a:t>3</a:t>
                      </a:r>
                      <a:endParaRPr lang="es-CO" sz="9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42545">
                        <a:lnSpc>
                          <a:spcPct val="92000"/>
                        </a:lnSpc>
                        <a:spcBef>
                          <a:spcPts val="130"/>
                        </a:spcBef>
                        <a:spcAft>
                          <a:spcPts val="0"/>
                        </a:spcAft>
                      </a:pPr>
                      <a:r>
                        <a:rPr lang="es-CO" sz="800" dirty="0">
                          <a:effectLst/>
                        </a:rPr>
                        <a:t> </a:t>
                      </a:r>
                      <a:endParaRPr lang="es-CO" sz="900" dirty="0">
                        <a:effectLst/>
                      </a:endParaRPr>
                    </a:p>
                    <a:p>
                      <a:pPr marL="42545">
                        <a:lnSpc>
                          <a:spcPct val="92000"/>
                        </a:lnSpc>
                        <a:spcBef>
                          <a:spcPts val="130"/>
                        </a:spcBef>
                        <a:spcAft>
                          <a:spcPts val="0"/>
                        </a:spcAft>
                      </a:pPr>
                      <a:r>
                        <a:rPr lang="es-CO" sz="800" dirty="0">
                          <a:effectLst/>
                        </a:rPr>
                        <a:t>El usuario llena los campos requeridos, sube la imagen y finalmente de la clic al botón guardar</a:t>
                      </a:r>
                      <a:endParaRPr lang="es-CO" sz="9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216119899"/>
                  </a:ext>
                </a:extLst>
              </a:tr>
              <a:tr h="479727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45"/>
                        </a:spcBef>
                      </a:pPr>
                      <a:r>
                        <a:rPr lang="es-CO" sz="1000" dirty="0">
                          <a:effectLst/>
                        </a:rPr>
                        <a:t> </a:t>
                      </a:r>
                      <a:endParaRPr lang="es-CO" sz="900" dirty="0">
                        <a:effectLst/>
                      </a:endParaRPr>
                    </a:p>
                    <a:p>
                      <a:pPr marL="173355" algn="ctr">
                        <a:spcBef>
                          <a:spcPts val="5"/>
                        </a:spcBef>
                        <a:spcAft>
                          <a:spcPts val="0"/>
                        </a:spcAft>
                      </a:pPr>
                      <a:r>
                        <a:rPr lang="es-CO" sz="700" dirty="0">
                          <a:effectLst/>
                        </a:rPr>
                        <a:t>4</a:t>
                      </a:r>
                      <a:endParaRPr lang="es-CO" sz="9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42545" marR="32385" algn="just">
                        <a:lnSpc>
                          <a:spcPct val="92000"/>
                        </a:lnSpc>
                        <a:spcBef>
                          <a:spcPts val="265"/>
                        </a:spcBef>
                        <a:spcAft>
                          <a:spcPts val="0"/>
                        </a:spcAft>
                      </a:pPr>
                      <a:r>
                        <a:rPr lang="es-CO" sz="800" dirty="0">
                          <a:effectLst/>
                        </a:rPr>
                        <a:t> El sistema guarda la información y muestra un mensaje de “Su producto ha sido guardado exitosamente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681091914"/>
                  </a:ext>
                </a:extLst>
              </a:tr>
              <a:tr h="399655">
                <a:tc>
                  <a:txBody>
                    <a:bodyPr/>
                    <a:lstStyle/>
                    <a:p>
                      <a:pPr marL="67310">
                        <a:spcBef>
                          <a:spcPts val="265"/>
                        </a:spcBef>
                        <a:spcAft>
                          <a:spcPts val="0"/>
                        </a:spcAft>
                      </a:pPr>
                      <a:r>
                        <a:rPr lang="es-CO" sz="800">
                          <a:effectLst/>
                        </a:rPr>
                        <a:t>Post Condición</a:t>
                      </a:r>
                      <a:endParaRPr lang="es-CO" sz="9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52705">
                        <a:lnSpc>
                          <a:spcPct val="92000"/>
                        </a:lnSpc>
                        <a:spcBef>
                          <a:spcPts val="15"/>
                        </a:spcBef>
                        <a:spcAft>
                          <a:spcPts val="0"/>
                        </a:spcAft>
                      </a:pPr>
                      <a:r>
                        <a:rPr lang="es-CO" sz="800" dirty="0">
                          <a:effectLst/>
                        </a:rPr>
                        <a:t>El producto ingresado queda guardado en una base de datos</a:t>
                      </a:r>
                      <a:endParaRPr lang="es-CO" sz="900" dirty="0">
                        <a:effectLst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6203859"/>
                  </a:ext>
                </a:extLst>
              </a:tr>
              <a:tr h="188142">
                <a:tc rowSpan="2">
                  <a:txBody>
                    <a:bodyPr/>
                    <a:lstStyle/>
                    <a:p>
                      <a:pPr marL="41275">
                        <a:lnSpc>
                          <a:spcPts val="1025"/>
                        </a:lnSpc>
                      </a:pPr>
                      <a:r>
                        <a:rPr lang="es-CO" sz="800" dirty="0">
                          <a:effectLst/>
                        </a:rPr>
                        <a:t>Excepciones</a:t>
                      </a:r>
                      <a:endParaRPr lang="es-CO" sz="9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945"/>
                        </a:lnSpc>
                      </a:pPr>
                      <a:r>
                        <a:rPr lang="es-CO" sz="700" spc="-20" dirty="0">
                          <a:effectLst/>
                        </a:rPr>
                        <a:t>Paso</a:t>
                      </a:r>
                      <a:endParaRPr lang="es-CO" sz="9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945"/>
                        </a:lnSpc>
                      </a:pPr>
                      <a:r>
                        <a:rPr lang="es-CO" sz="700" dirty="0">
                          <a:effectLst/>
                        </a:rPr>
                        <a:t> </a:t>
                      </a:r>
                      <a:endParaRPr lang="es-CO" sz="9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2581952"/>
                  </a:ext>
                </a:extLst>
              </a:tr>
              <a:tr h="472567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60"/>
                        </a:spcBef>
                      </a:pPr>
                      <a:r>
                        <a:rPr lang="es-CO" sz="1100" dirty="0">
                          <a:effectLst/>
                        </a:rPr>
                        <a:t> </a:t>
                      </a:r>
                      <a:endParaRPr lang="es-CO" sz="900" dirty="0">
                        <a:effectLst/>
                      </a:endParaRPr>
                    </a:p>
                    <a:p>
                      <a:pPr marL="168275" algn="ctr"/>
                      <a:r>
                        <a:rPr lang="es-CO" sz="9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3</a:t>
                      </a: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46990" marR="38735" algn="just">
                        <a:lnSpc>
                          <a:spcPct val="106000"/>
                        </a:lnSpc>
                        <a:spcBef>
                          <a:spcPts val="95"/>
                        </a:spcBef>
                        <a:spcAft>
                          <a:spcPts val="0"/>
                        </a:spcAft>
                      </a:pPr>
                      <a:r>
                        <a:rPr lang="es-CO" sz="800" dirty="0">
                          <a:effectLst/>
                        </a:rPr>
                        <a:t> </a:t>
                      </a:r>
                      <a:endParaRPr lang="es-CO" sz="900" dirty="0">
                        <a:effectLst/>
                      </a:endParaRPr>
                    </a:p>
                    <a:p>
                      <a:pPr marL="46990" marR="38735" algn="just">
                        <a:lnSpc>
                          <a:spcPct val="106000"/>
                        </a:lnSpc>
                        <a:spcBef>
                          <a:spcPts val="95"/>
                        </a:spcBef>
                        <a:spcAft>
                          <a:spcPts val="0"/>
                        </a:spcAft>
                      </a:pPr>
                      <a:r>
                        <a:rPr lang="es-CO" sz="800" dirty="0">
                          <a:effectLst/>
                        </a:rPr>
                        <a:t> Si el usuario no lleno alguno de los campos obligatorios, el sistema mostrara un mensaje de “Campos obligatorios sin llenar* ” </a:t>
                      </a:r>
                      <a:endParaRPr lang="es-CO" sz="9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095002290"/>
                  </a:ext>
                </a:extLst>
              </a:tr>
              <a:tr h="472567">
                <a:tc>
                  <a:txBody>
                    <a:bodyPr/>
                    <a:lstStyle/>
                    <a:p>
                      <a:pPr marL="41275">
                        <a:lnSpc>
                          <a:spcPts val="1025"/>
                        </a:lnSpc>
                      </a:pPr>
                      <a:endParaRPr lang="es-CO" sz="9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68275" algn="ctr"/>
                      <a:r>
                        <a:rPr lang="es-CO" sz="900" dirty="0">
                          <a:effectLst/>
                          <a:latin typeface="Calibri  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3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6990" marR="38735" algn="just">
                        <a:lnSpc>
                          <a:spcPct val="106000"/>
                        </a:lnSpc>
                        <a:spcBef>
                          <a:spcPts val="95"/>
                        </a:spcBef>
                        <a:spcAft>
                          <a:spcPts val="0"/>
                        </a:spcAft>
                      </a:pPr>
                      <a:r>
                        <a:rPr lang="es-CO" sz="800" dirty="0">
                          <a:effectLst/>
                          <a:latin typeface="Calibri  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Si la imagen ingresada por el usuario es muy pequeña o muy grande el sistema  mostrara un error 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2174141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935328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952C632D-1467-4592-B6C0-0478983B24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9542" y="848590"/>
            <a:ext cx="9372916" cy="5160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24301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CF304E08-0840-6C4D-B809-1736BD1585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6972408"/>
              </p:ext>
            </p:extLst>
          </p:nvPr>
        </p:nvGraphicFramePr>
        <p:xfrm>
          <a:off x="3257282" y="530087"/>
          <a:ext cx="5343895" cy="6107872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658125">
                  <a:extLst>
                    <a:ext uri="{9D8B030D-6E8A-4147-A177-3AD203B41FA5}">
                      <a16:colId xmlns:a16="http://schemas.microsoft.com/office/drawing/2014/main" val="3120827593"/>
                    </a:ext>
                  </a:extLst>
                </a:gridCol>
                <a:gridCol w="2342885">
                  <a:extLst>
                    <a:ext uri="{9D8B030D-6E8A-4147-A177-3AD203B41FA5}">
                      <a16:colId xmlns:a16="http://schemas.microsoft.com/office/drawing/2014/main" val="3560936693"/>
                    </a:ext>
                  </a:extLst>
                </a:gridCol>
                <a:gridCol w="2342885">
                  <a:extLst>
                    <a:ext uri="{9D8B030D-6E8A-4147-A177-3AD203B41FA5}">
                      <a16:colId xmlns:a16="http://schemas.microsoft.com/office/drawing/2014/main" val="3680774726"/>
                    </a:ext>
                  </a:extLst>
                </a:gridCol>
              </a:tblGrid>
              <a:tr h="219207">
                <a:tc>
                  <a:txBody>
                    <a:bodyPr/>
                    <a:lstStyle/>
                    <a:p>
                      <a:pPr marL="34925">
                        <a:lnSpc>
                          <a:spcPts val="965"/>
                        </a:lnSpc>
                      </a:pPr>
                      <a:r>
                        <a:rPr lang="es-CO" sz="800">
                          <a:effectLst/>
                        </a:rPr>
                        <a:t>Casos de Uso</a:t>
                      </a:r>
                      <a:endParaRPr lang="es-CO" sz="9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019175">
                        <a:lnSpc>
                          <a:spcPts val="965"/>
                        </a:lnSpc>
                      </a:pPr>
                      <a:r>
                        <a:rPr lang="es-CO" sz="800" dirty="0">
                          <a:effectLst/>
                        </a:rPr>
                        <a:t>   </a:t>
                      </a:r>
                    </a:p>
                    <a:p>
                      <a:pPr marL="1019175">
                        <a:lnSpc>
                          <a:spcPts val="965"/>
                        </a:lnSpc>
                      </a:pPr>
                      <a:r>
                        <a:rPr lang="es-CO" sz="900" dirty="0">
                          <a:effectLst/>
                          <a:latin typeface="Calibri  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                   Modificar productos</a:t>
                      </a: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569667"/>
                  </a:ext>
                </a:extLst>
              </a:tr>
              <a:tr h="468018">
                <a:tc>
                  <a:txBody>
                    <a:bodyPr/>
                    <a:lstStyle/>
                    <a:p>
                      <a:pPr marL="9525">
                        <a:spcBef>
                          <a:spcPts val="105"/>
                        </a:spcBef>
                        <a:spcAft>
                          <a:spcPts val="0"/>
                        </a:spcAft>
                      </a:pPr>
                      <a:endParaRPr lang="es-CO" sz="800" dirty="0">
                        <a:effectLst/>
                      </a:endParaRPr>
                    </a:p>
                    <a:p>
                      <a:pPr marL="9525">
                        <a:spcBef>
                          <a:spcPts val="105"/>
                        </a:spcBef>
                        <a:spcAft>
                          <a:spcPts val="0"/>
                        </a:spcAft>
                      </a:pPr>
                      <a:r>
                        <a:rPr lang="es-CO" sz="800" dirty="0">
                          <a:effectLst/>
                        </a:rPr>
                        <a:t>Descripción</a:t>
                      </a:r>
                      <a:endParaRPr lang="es-CO" sz="9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69215" marR="60325" algn="just">
                        <a:lnSpc>
                          <a:spcPct val="90000"/>
                        </a:lnSpc>
                        <a:spcBef>
                          <a:spcPts val="185"/>
                        </a:spcBef>
                        <a:spcAft>
                          <a:spcPts val="0"/>
                        </a:spcAft>
                      </a:pPr>
                      <a:endParaRPr lang="es-CO" sz="800" dirty="0">
                        <a:effectLst/>
                      </a:endParaRPr>
                    </a:p>
                    <a:p>
                      <a:pPr marL="69215" marR="60325" algn="just">
                        <a:lnSpc>
                          <a:spcPct val="90000"/>
                        </a:lnSpc>
                        <a:spcBef>
                          <a:spcPts val="185"/>
                        </a:spcBef>
                        <a:spcAft>
                          <a:spcPts val="0"/>
                        </a:spcAft>
                      </a:pPr>
                      <a:r>
                        <a:rPr lang="es-CO" sz="900" dirty="0">
                          <a:effectLst/>
                        </a:rPr>
                        <a:t>El sistema debe permitir modificar productos al usuario</a:t>
                      </a: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6538039"/>
                  </a:ext>
                </a:extLst>
              </a:tr>
              <a:tr h="375116">
                <a:tc>
                  <a:txBody>
                    <a:bodyPr/>
                    <a:lstStyle/>
                    <a:p>
                      <a:pPr>
                        <a:spcBef>
                          <a:spcPts val="565"/>
                        </a:spcBef>
                        <a:spcAft>
                          <a:spcPts val="0"/>
                        </a:spcAft>
                      </a:pPr>
                      <a:r>
                        <a:rPr lang="es-CO" sz="800">
                          <a:effectLst/>
                        </a:rPr>
                        <a:t>Precondición</a:t>
                      </a:r>
                      <a:endParaRPr lang="es-CO" sz="9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69215" marR="2540">
                        <a:lnSpc>
                          <a:spcPct val="90000"/>
                        </a:lnSpc>
                        <a:spcBef>
                          <a:spcPts val="255"/>
                        </a:spcBef>
                        <a:spcAft>
                          <a:spcPts val="0"/>
                        </a:spcAft>
                      </a:pPr>
                      <a:r>
                        <a:rPr lang="es-CO" sz="900" dirty="0">
                          <a:effectLst/>
                        </a:rPr>
                        <a:t>El usuario debe tener autorización para modificar productos </a:t>
                      </a:r>
                      <a:endParaRPr lang="es-CO" sz="10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8533601"/>
                  </a:ext>
                </a:extLst>
              </a:tr>
              <a:tr h="175287">
                <a:tc rowSpan="5">
                  <a:txBody>
                    <a:bodyPr/>
                    <a:lstStyle/>
                    <a:p>
                      <a:pPr marL="41275">
                        <a:lnSpc>
                          <a:spcPts val="925"/>
                        </a:lnSpc>
                      </a:pPr>
                      <a:r>
                        <a:rPr lang="es-CO" sz="800" dirty="0">
                          <a:effectLst/>
                        </a:rPr>
                        <a:t>Secuencia</a:t>
                      </a:r>
                      <a:endParaRPr lang="es-CO" sz="900" dirty="0">
                        <a:effectLst/>
                      </a:endParaRPr>
                    </a:p>
                    <a:p>
                      <a:pPr marL="80645">
                        <a:spcBef>
                          <a:spcPts val="80"/>
                        </a:spcBef>
                        <a:spcAft>
                          <a:spcPts val="0"/>
                        </a:spcAft>
                      </a:pPr>
                      <a:r>
                        <a:rPr lang="es-CO" sz="800" dirty="0">
                          <a:effectLst/>
                        </a:rPr>
                        <a:t>Normal</a:t>
                      </a:r>
                      <a:endParaRPr lang="es-CO" sz="9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845"/>
                        </a:lnSpc>
                      </a:pPr>
                      <a:r>
                        <a:rPr lang="es-CO" sz="700" spc="-20" dirty="0">
                          <a:effectLst/>
                        </a:rPr>
                        <a:t>Paso</a:t>
                      </a:r>
                      <a:endParaRPr lang="es-CO" sz="9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ts val="845"/>
                        </a:lnSpc>
                      </a:pPr>
                      <a:r>
                        <a:rPr lang="es-CO" sz="700">
                          <a:effectLst/>
                        </a:rPr>
                        <a:t>Acción</a:t>
                      </a:r>
                      <a:endParaRPr lang="es-CO" sz="9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715582348"/>
                  </a:ext>
                </a:extLst>
              </a:tr>
              <a:tr h="283496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3355" algn="ctr">
                        <a:lnSpc>
                          <a:spcPts val="960"/>
                        </a:lnSpc>
                      </a:pPr>
                      <a:r>
                        <a:rPr lang="es-CO" sz="900" dirty="0">
                          <a:effectLst/>
                        </a:rPr>
                        <a:t>1</a:t>
                      </a:r>
                      <a:endParaRPr lang="es-CO" sz="9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42545">
                        <a:spcBef>
                          <a:spcPts val="45"/>
                        </a:spcBef>
                        <a:spcAft>
                          <a:spcPts val="0"/>
                        </a:spcAft>
                      </a:pPr>
                      <a:r>
                        <a:rPr lang="es-CO" sz="800" dirty="0">
                          <a:effectLst/>
                        </a:rPr>
                        <a:t> El usuario da clic al botón modificar productos</a:t>
                      </a:r>
                      <a:endParaRPr lang="es-CO" sz="900" dirty="0">
                        <a:effectLst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774530266"/>
                  </a:ext>
                </a:extLst>
              </a:tr>
              <a:tr h="482624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30"/>
                        </a:spcBef>
                      </a:pPr>
                      <a:r>
                        <a:rPr lang="es-CO" sz="700" dirty="0">
                          <a:effectLst/>
                        </a:rPr>
                        <a:t> </a:t>
                      </a:r>
                      <a:endParaRPr lang="es-CO" sz="900" dirty="0">
                        <a:effectLst/>
                      </a:endParaRPr>
                    </a:p>
                    <a:p>
                      <a:pPr marL="173355" algn="ctr"/>
                      <a:r>
                        <a:rPr lang="es-CO" sz="900" dirty="0">
                          <a:effectLst/>
                        </a:rPr>
                        <a:t>2</a:t>
                      </a:r>
                      <a:endParaRPr lang="es-CO" sz="9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42545" marR="40640" algn="just">
                        <a:lnSpc>
                          <a:spcPct val="92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s-CO" sz="1000" dirty="0">
                          <a:effectLst/>
                          <a:latin typeface="+mn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El sistema muestra una lista con los productos que hay en el sistema 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186590003"/>
                  </a:ext>
                </a:extLst>
              </a:tr>
              <a:tr h="420665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3355" algn="ctr">
                        <a:lnSpc>
                          <a:spcPts val="1075"/>
                        </a:lnSpc>
                      </a:pPr>
                      <a:r>
                        <a:rPr lang="es-CO" sz="900" dirty="0">
                          <a:effectLst/>
                        </a:rPr>
                        <a:t>3</a:t>
                      </a:r>
                      <a:endParaRPr lang="es-CO" sz="9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42545">
                        <a:lnSpc>
                          <a:spcPct val="92000"/>
                        </a:lnSpc>
                        <a:spcBef>
                          <a:spcPts val="130"/>
                        </a:spcBef>
                        <a:spcAft>
                          <a:spcPts val="0"/>
                        </a:spcAft>
                      </a:pPr>
                      <a:r>
                        <a:rPr lang="es-CO" sz="800" dirty="0">
                          <a:effectLst/>
                        </a:rPr>
                        <a:t> </a:t>
                      </a:r>
                      <a:endParaRPr lang="es-CO" sz="900" dirty="0">
                        <a:effectLst/>
                      </a:endParaRPr>
                    </a:p>
                    <a:p>
                      <a:pPr marL="42545">
                        <a:lnSpc>
                          <a:spcPct val="92000"/>
                        </a:lnSpc>
                        <a:spcBef>
                          <a:spcPts val="130"/>
                        </a:spcBef>
                        <a:spcAft>
                          <a:spcPts val="0"/>
                        </a:spcAft>
                      </a:pPr>
                      <a:r>
                        <a:rPr lang="es-CO" sz="900" dirty="0">
                          <a:effectLst/>
                        </a:rPr>
                        <a:t>El usuario selecciona el producto que desee o le da a la barra de búsqueda y escribe el nombre del producto</a:t>
                      </a:r>
                      <a:endParaRPr lang="es-CO" sz="10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216119899"/>
                  </a:ext>
                </a:extLst>
              </a:tr>
              <a:tr h="557326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45"/>
                        </a:spcBef>
                      </a:pPr>
                      <a:r>
                        <a:rPr lang="es-CO" sz="1000" dirty="0">
                          <a:effectLst/>
                        </a:rPr>
                        <a:t> </a:t>
                      </a:r>
                      <a:endParaRPr lang="es-CO" sz="900" dirty="0">
                        <a:effectLst/>
                      </a:endParaRPr>
                    </a:p>
                    <a:p>
                      <a:pPr marL="173355" algn="ctr">
                        <a:spcBef>
                          <a:spcPts val="5"/>
                        </a:spcBef>
                        <a:spcAft>
                          <a:spcPts val="0"/>
                        </a:spcAft>
                      </a:pPr>
                      <a:r>
                        <a:rPr lang="es-CO" sz="900" dirty="0">
                          <a:effectLst/>
                        </a:rPr>
                        <a:t>4</a:t>
                      </a:r>
                      <a:endParaRPr lang="es-CO" sz="9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42545" marR="32385" algn="just">
                        <a:lnSpc>
                          <a:spcPct val="92000"/>
                        </a:lnSpc>
                        <a:spcBef>
                          <a:spcPts val="265"/>
                        </a:spcBef>
                        <a:spcAft>
                          <a:spcPts val="0"/>
                        </a:spcAft>
                      </a:pPr>
                      <a:r>
                        <a:rPr lang="es-CO" sz="900" dirty="0">
                          <a:effectLst/>
                        </a:rPr>
                        <a:t> El sistema muestra los campos con la información del producto seleccionado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681091914"/>
                  </a:ext>
                </a:extLst>
              </a:tr>
              <a:tr h="479727">
                <a:tc>
                  <a:txBody>
                    <a:bodyPr/>
                    <a:lstStyle/>
                    <a:p>
                      <a:pPr marL="80645">
                        <a:spcBef>
                          <a:spcPts val="80"/>
                        </a:spcBef>
                        <a:spcAft>
                          <a:spcPts val="0"/>
                        </a:spcAft>
                      </a:pPr>
                      <a:endParaRPr lang="es-CO" sz="9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3355" algn="ctr">
                        <a:spcBef>
                          <a:spcPts val="5"/>
                        </a:spcBef>
                        <a:spcAft>
                          <a:spcPts val="0"/>
                        </a:spcAft>
                      </a:pPr>
                      <a:r>
                        <a:rPr lang="es-CO" sz="900" dirty="0">
                          <a:effectLst/>
                          <a:latin typeface="+mn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5</a:t>
                      </a:r>
                    </a:p>
                  </a:txBody>
                  <a:tcPr marL="0" marR="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42545" marR="32385" algn="just">
                        <a:lnSpc>
                          <a:spcPct val="92000"/>
                        </a:lnSpc>
                        <a:spcBef>
                          <a:spcPts val="265"/>
                        </a:spcBef>
                        <a:spcAft>
                          <a:spcPts val="0"/>
                        </a:spcAft>
                      </a:pPr>
                      <a:r>
                        <a:rPr lang="es-CO" sz="900" dirty="0">
                          <a:effectLst/>
                        </a:rPr>
                        <a:t>El usuario selecciona el campo a modificar, reemplaza la información y le da al botón de  “Guardar”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79010348"/>
                  </a:ext>
                </a:extLst>
              </a:tr>
              <a:tr h="479727">
                <a:tc>
                  <a:txBody>
                    <a:bodyPr/>
                    <a:lstStyle/>
                    <a:p>
                      <a:pPr marL="80645">
                        <a:spcBef>
                          <a:spcPts val="80"/>
                        </a:spcBef>
                        <a:spcAft>
                          <a:spcPts val="0"/>
                        </a:spcAft>
                      </a:pPr>
                      <a:endParaRPr lang="es-CO" sz="9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3355" algn="ctr">
                        <a:spcBef>
                          <a:spcPts val="5"/>
                        </a:spcBef>
                        <a:spcAft>
                          <a:spcPts val="0"/>
                        </a:spcAft>
                      </a:pPr>
                      <a:r>
                        <a:rPr lang="es-CO" sz="900" dirty="0">
                          <a:effectLst/>
                          <a:latin typeface="+mn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6</a:t>
                      </a:r>
                    </a:p>
                  </a:txBody>
                  <a:tcPr marL="0" marR="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42545" marR="32385" algn="just">
                        <a:lnSpc>
                          <a:spcPct val="92000"/>
                        </a:lnSpc>
                        <a:spcBef>
                          <a:spcPts val="265"/>
                        </a:spcBef>
                        <a:spcAft>
                          <a:spcPts val="0"/>
                        </a:spcAft>
                      </a:pPr>
                      <a:r>
                        <a:rPr lang="es-CO" sz="900" dirty="0">
                          <a:effectLst/>
                        </a:rPr>
                        <a:t>El sistema muestra un mensaje de “La información del producto ha sido actualizada”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72825290"/>
                  </a:ext>
                </a:extLst>
              </a:tr>
              <a:tr h="399655">
                <a:tc>
                  <a:txBody>
                    <a:bodyPr/>
                    <a:lstStyle/>
                    <a:p>
                      <a:pPr marL="67310">
                        <a:spcBef>
                          <a:spcPts val="265"/>
                        </a:spcBef>
                        <a:spcAft>
                          <a:spcPts val="0"/>
                        </a:spcAft>
                      </a:pPr>
                      <a:r>
                        <a:rPr lang="es-CO" sz="800">
                          <a:effectLst/>
                        </a:rPr>
                        <a:t>Post Condición</a:t>
                      </a:r>
                      <a:endParaRPr lang="es-CO" sz="9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52705">
                        <a:lnSpc>
                          <a:spcPct val="92000"/>
                        </a:lnSpc>
                        <a:spcBef>
                          <a:spcPts val="15"/>
                        </a:spcBef>
                        <a:spcAft>
                          <a:spcPts val="0"/>
                        </a:spcAft>
                      </a:pPr>
                      <a:r>
                        <a:rPr lang="es-CO" sz="800" dirty="0">
                          <a:effectLst/>
                        </a:rPr>
                        <a:t>El producto es encontrado </a:t>
                      </a:r>
                      <a:r>
                        <a:rPr lang="es-CO" sz="800">
                          <a:effectLst/>
                        </a:rPr>
                        <a:t>facilmente</a:t>
                      </a:r>
                      <a:endParaRPr lang="es-CO" sz="900" dirty="0">
                        <a:effectLst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6203859"/>
                  </a:ext>
                </a:extLst>
              </a:tr>
              <a:tr h="188142">
                <a:tc rowSpan="2">
                  <a:txBody>
                    <a:bodyPr/>
                    <a:lstStyle/>
                    <a:p>
                      <a:pPr marL="41275">
                        <a:lnSpc>
                          <a:spcPts val="1025"/>
                        </a:lnSpc>
                      </a:pPr>
                      <a:r>
                        <a:rPr lang="es-CO" sz="800" dirty="0">
                          <a:effectLst/>
                        </a:rPr>
                        <a:t>Excepciones</a:t>
                      </a:r>
                      <a:endParaRPr lang="es-CO" sz="9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945"/>
                        </a:lnSpc>
                      </a:pPr>
                      <a:r>
                        <a:rPr lang="es-CO" sz="700" spc="-20" dirty="0">
                          <a:effectLst/>
                        </a:rPr>
                        <a:t>Paso</a:t>
                      </a:r>
                      <a:endParaRPr lang="es-CO" sz="9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945"/>
                        </a:lnSpc>
                      </a:pPr>
                      <a:r>
                        <a:rPr lang="es-CO" sz="700" dirty="0">
                          <a:effectLst/>
                        </a:rPr>
                        <a:t> </a:t>
                      </a:r>
                      <a:endParaRPr lang="es-CO" sz="9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2581952"/>
                  </a:ext>
                </a:extLst>
              </a:tr>
              <a:tr h="472567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60"/>
                        </a:spcBef>
                      </a:pPr>
                      <a:r>
                        <a:rPr lang="es-CO" sz="1100" dirty="0">
                          <a:effectLst/>
                        </a:rPr>
                        <a:t> </a:t>
                      </a:r>
                      <a:endParaRPr lang="es-CO" sz="900" dirty="0">
                        <a:effectLst/>
                      </a:endParaRPr>
                    </a:p>
                    <a:p>
                      <a:pPr marL="168275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9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3</a:t>
                      </a: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46990" marR="38735" lvl="0" indent="0" algn="just" defTabSz="914400" rtl="0" eaLnBrk="1" fontAlgn="auto" latinLnBrk="0" hangingPunct="1">
                        <a:lnSpc>
                          <a:spcPct val="106000"/>
                        </a:lnSpc>
                        <a:spcBef>
                          <a:spcPts val="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900" dirty="0">
                          <a:effectLst/>
                          <a:latin typeface="Calibri  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Si el usuario ingresa un producto que no se encuentre en el sistema se enviara un mensaje de “Producto no encontrado”</a:t>
                      </a:r>
                    </a:p>
                    <a:p>
                      <a:pPr marL="46990" marR="38735" algn="just">
                        <a:lnSpc>
                          <a:spcPct val="106000"/>
                        </a:lnSpc>
                        <a:spcBef>
                          <a:spcPts val="95"/>
                        </a:spcBef>
                        <a:spcAft>
                          <a:spcPts val="0"/>
                        </a:spcAft>
                      </a:pPr>
                      <a:endParaRPr lang="es-CO" sz="1000" dirty="0">
                        <a:effectLst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095002290"/>
                  </a:ext>
                </a:extLst>
              </a:tr>
              <a:tr h="472567">
                <a:tc>
                  <a:txBody>
                    <a:bodyPr/>
                    <a:lstStyle/>
                    <a:p>
                      <a:pPr marL="41275">
                        <a:lnSpc>
                          <a:spcPts val="1025"/>
                        </a:lnSpc>
                      </a:pPr>
                      <a:endParaRPr lang="es-CO" sz="9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68275" algn="ctr"/>
                      <a:endParaRPr lang="es-CO" sz="900" dirty="0">
                        <a:effectLst/>
                        <a:latin typeface="Calibri  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  <a:p>
                      <a:pPr marL="168275" algn="ctr"/>
                      <a:r>
                        <a:rPr lang="es-CO" sz="900" dirty="0">
                          <a:effectLst/>
                          <a:latin typeface="Calibri  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3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6990" marR="38735" lvl="0" indent="0" algn="just" defTabSz="914400" rtl="0" eaLnBrk="1" fontAlgn="auto" latinLnBrk="0" hangingPunct="1">
                        <a:lnSpc>
                          <a:spcPct val="106000"/>
                        </a:lnSpc>
                        <a:spcBef>
                          <a:spcPts val="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900" dirty="0">
                          <a:effectLst/>
                        </a:rPr>
                        <a:t> Si el usuario elimina la información de alguno de los campos obligatorios y no reemplaza el mismo el sistema mostrara un mensaje de “Ingrese información en los campos obligatorios”</a:t>
                      </a:r>
                    </a:p>
                    <a:p>
                      <a:pPr marL="46990" marR="38735" algn="just">
                        <a:lnSpc>
                          <a:spcPct val="106000"/>
                        </a:lnSpc>
                        <a:spcBef>
                          <a:spcPts val="95"/>
                        </a:spcBef>
                        <a:spcAft>
                          <a:spcPts val="0"/>
                        </a:spcAft>
                      </a:pPr>
                      <a:endParaRPr lang="es-CO" sz="800" dirty="0">
                        <a:effectLst/>
                        <a:latin typeface="Calibri  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2174141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695516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0C3D61C0-C728-4996-9AA6-FBA10CCD42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5704" y="0"/>
            <a:ext cx="939579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18543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CF304E08-0840-6C4D-B809-1736BD1585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733368"/>
              </p:ext>
            </p:extLst>
          </p:nvPr>
        </p:nvGraphicFramePr>
        <p:xfrm>
          <a:off x="3297038" y="795131"/>
          <a:ext cx="5343895" cy="5040620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658125">
                  <a:extLst>
                    <a:ext uri="{9D8B030D-6E8A-4147-A177-3AD203B41FA5}">
                      <a16:colId xmlns:a16="http://schemas.microsoft.com/office/drawing/2014/main" val="3120827593"/>
                    </a:ext>
                  </a:extLst>
                </a:gridCol>
                <a:gridCol w="2342885">
                  <a:extLst>
                    <a:ext uri="{9D8B030D-6E8A-4147-A177-3AD203B41FA5}">
                      <a16:colId xmlns:a16="http://schemas.microsoft.com/office/drawing/2014/main" val="3560936693"/>
                    </a:ext>
                  </a:extLst>
                </a:gridCol>
                <a:gridCol w="2342885">
                  <a:extLst>
                    <a:ext uri="{9D8B030D-6E8A-4147-A177-3AD203B41FA5}">
                      <a16:colId xmlns:a16="http://schemas.microsoft.com/office/drawing/2014/main" val="3680774726"/>
                    </a:ext>
                  </a:extLst>
                </a:gridCol>
              </a:tblGrid>
              <a:tr h="219207">
                <a:tc>
                  <a:txBody>
                    <a:bodyPr/>
                    <a:lstStyle/>
                    <a:p>
                      <a:pPr marL="34925">
                        <a:lnSpc>
                          <a:spcPts val="965"/>
                        </a:lnSpc>
                      </a:pPr>
                      <a:r>
                        <a:rPr lang="es-CO" sz="800">
                          <a:effectLst/>
                        </a:rPr>
                        <a:t>Casos de Uso</a:t>
                      </a:r>
                      <a:endParaRPr lang="es-CO" sz="9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019175">
                        <a:lnSpc>
                          <a:spcPts val="965"/>
                        </a:lnSpc>
                      </a:pPr>
                      <a:r>
                        <a:rPr lang="es-CO" sz="800" dirty="0">
                          <a:effectLst/>
                        </a:rPr>
                        <a:t>   </a:t>
                      </a:r>
                    </a:p>
                    <a:p>
                      <a:pPr marL="1019175">
                        <a:lnSpc>
                          <a:spcPts val="965"/>
                        </a:lnSpc>
                      </a:pPr>
                      <a:r>
                        <a:rPr lang="es-CO" sz="900" dirty="0">
                          <a:effectLst/>
                          <a:latin typeface="Calibri  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                 Eliminar productos</a:t>
                      </a: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569667"/>
                  </a:ext>
                </a:extLst>
              </a:tr>
              <a:tr h="468018">
                <a:tc>
                  <a:txBody>
                    <a:bodyPr/>
                    <a:lstStyle/>
                    <a:p>
                      <a:pPr marL="9525">
                        <a:spcBef>
                          <a:spcPts val="105"/>
                        </a:spcBef>
                        <a:spcAft>
                          <a:spcPts val="0"/>
                        </a:spcAft>
                      </a:pPr>
                      <a:endParaRPr lang="es-CO" sz="800" dirty="0">
                        <a:effectLst/>
                      </a:endParaRPr>
                    </a:p>
                    <a:p>
                      <a:pPr marL="9525">
                        <a:spcBef>
                          <a:spcPts val="105"/>
                        </a:spcBef>
                        <a:spcAft>
                          <a:spcPts val="0"/>
                        </a:spcAft>
                      </a:pPr>
                      <a:r>
                        <a:rPr lang="es-CO" sz="800" dirty="0">
                          <a:effectLst/>
                        </a:rPr>
                        <a:t>Descripción</a:t>
                      </a:r>
                      <a:endParaRPr lang="es-CO" sz="9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69215" marR="60325" algn="just">
                        <a:lnSpc>
                          <a:spcPct val="90000"/>
                        </a:lnSpc>
                        <a:spcBef>
                          <a:spcPts val="185"/>
                        </a:spcBef>
                        <a:spcAft>
                          <a:spcPts val="0"/>
                        </a:spcAft>
                      </a:pPr>
                      <a:endParaRPr lang="es-CO" sz="900" dirty="0">
                        <a:effectLst/>
                      </a:endParaRPr>
                    </a:p>
                    <a:p>
                      <a:pPr marL="69215" marR="60325" algn="just">
                        <a:lnSpc>
                          <a:spcPct val="90000"/>
                        </a:lnSpc>
                        <a:spcBef>
                          <a:spcPts val="185"/>
                        </a:spcBef>
                        <a:spcAft>
                          <a:spcPts val="0"/>
                        </a:spcAft>
                      </a:pPr>
                      <a:r>
                        <a:rPr lang="es-CO" sz="900" dirty="0">
                          <a:effectLst/>
                        </a:rPr>
                        <a:t>El sistema debe permitir al administrador eliminar productos</a:t>
                      </a: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6538039"/>
                  </a:ext>
                </a:extLst>
              </a:tr>
              <a:tr h="375116">
                <a:tc>
                  <a:txBody>
                    <a:bodyPr/>
                    <a:lstStyle/>
                    <a:p>
                      <a:pPr>
                        <a:spcBef>
                          <a:spcPts val="565"/>
                        </a:spcBef>
                        <a:spcAft>
                          <a:spcPts val="0"/>
                        </a:spcAft>
                      </a:pPr>
                      <a:r>
                        <a:rPr lang="es-CO" sz="800">
                          <a:effectLst/>
                        </a:rPr>
                        <a:t>Precondición</a:t>
                      </a:r>
                      <a:endParaRPr lang="es-CO" sz="9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69215" marR="2540">
                        <a:lnSpc>
                          <a:spcPct val="90000"/>
                        </a:lnSpc>
                        <a:spcBef>
                          <a:spcPts val="255"/>
                        </a:spcBef>
                        <a:spcAft>
                          <a:spcPts val="0"/>
                        </a:spcAft>
                      </a:pPr>
                      <a:r>
                        <a:rPr lang="es-CO" sz="900" dirty="0">
                          <a:effectLst/>
                        </a:rPr>
                        <a:t>El producto debe estar registrado en el sistema</a:t>
                      </a:r>
                      <a:endParaRPr lang="es-CO" sz="10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8533601"/>
                  </a:ext>
                </a:extLst>
              </a:tr>
              <a:tr h="175287">
                <a:tc rowSpan="5">
                  <a:txBody>
                    <a:bodyPr/>
                    <a:lstStyle/>
                    <a:p>
                      <a:pPr marL="41275">
                        <a:lnSpc>
                          <a:spcPts val="925"/>
                        </a:lnSpc>
                      </a:pPr>
                      <a:r>
                        <a:rPr lang="es-CO" sz="800" dirty="0">
                          <a:effectLst/>
                        </a:rPr>
                        <a:t>Secuencia</a:t>
                      </a:r>
                      <a:endParaRPr lang="es-CO" sz="900" dirty="0">
                        <a:effectLst/>
                      </a:endParaRPr>
                    </a:p>
                    <a:p>
                      <a:pPr marL="80645">
                        <a:spcBef>
                          <a:spcPts val="80"/>
                        </a:spcBef>
                        <a:spcAft>
                          <a:spcPts val="0"/>
                        </a:spcAft>
                      </a:pPr>
                      <a:r>
                        <a:rPr lang="es-CO" sz="800" dirty="0">
                          <a:effectLst/>
                        </a:rPr>
                        <a:t>Normal</a:t>
                      </a:r>
                      <a:endParaRPr lang="es-CO" sz="9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845"/>
                        </a:lnSpc>
                      </a:pPr>
                      <a:r>
                        <a:rPr lang="es-CO" sz="700" spc="-20" dirty="0">
                          <a:effectLst/>
                        </a:rPr>
                        <a:t>Paso</a:t>
                      </a:r>
                      <a:endParaRPr lang="es-CO" sz="9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ts val="845"/>
                        </a:lnSpc>
                      </a:pPr>
                      <a:r>
                        <a:rPr lang="es-CO" sz="700">
                          <a:effectLst/>
                        </a:rPr>
                        <a:t>Acción</a:t>
                      </a:r>
                      <a:endParaRPr lang="es-CO" sz="9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715582348"/>
                  </a:ext>
                </a:extLst>
              </a:tr>
              <a:tr h="283496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3355" algn="ctr">
                        <a:lnSpc>
                          <a:spcPts val="960"/>
                        </a:lnSpc>
                      </a:pPr>
                      <a:r>
                        <a:rPr lang="es-CO" sz="900" dirty="0">
                          <a:effectLst/>
                        </a:rPr>
                        <a:t>1</a:t>
                      </a:r>
                      <a:endParaRPr lang="es-CO" sz="9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42545">
                        <a:spcBef>
                          <a:spcPts val="45"/>
                        </a:spcBef>
                        <a:spcAft>
                          <a:spcPts val="0"/>
                        </a:spcAft>
                      </a:pPr>
                      <a:r>
                        <a:rPr lang="es-CO" sz="800" dirty="0">
                          <a:effectLst/>
                        </a:rPr>
                        <a:t>El administrador da clic al hipervínculo “Eliminar producto”</a:t>
                      </a:r>
                      <a:endParaRPr lang="es-CO" sz="900" dirty="0">
                        <a:effectLst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774530266"/>
                  </a:ext>
                </a:extLst>
              </a:tr>
              <a:tr h="482624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30"/>
                        </a:spcBef>
                      </a:pPr>
                      <a:r>
                        <a:rPr lang="es-CO" sz="700" dirty="0">
                          <a:effectLst/>
                        </a:rPr>
                        <a:t> </a:t>
                      </a:r>
                      <a:endParaRPr lang="es-CO" sz="900" dirty="0">
                        <a:effectLst/>
                      </a:endParaRPr>
                    </a:p>
                    <a:p>
                      <a:pPr marL="173355" algn="ctr"/>
                      <a:r>
                        <a:rPr lang="es-CO" sz="900" dirty="0">
                          <a:effectLst/>
                        </a:rPr>
                        <a:t>2</a:t>
                      </a:r>
                      <a:endParaRPr lang="es-CO" sz="9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42545" marR="40640" algn="just">
                        <a:lnSpc>
                          <a:spcPct val="92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s-CO" sz="1000" dirty="0">
                          <a:effectLst/>
                          <a:latin typeface="+mn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El sistema muestra dos campos de “Clave de autorización” y “Nombre del productos”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186590003"/>
                  </a:ext>
                </a:extLst>
              </a:tr>
              <a:tr h="420665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3355" algn="ctr">
                        <a:lnSpc>
                          <a:spcPts val="1075"/>
                        </a:lnSpc>
                      </a:pPr>
                      <a:r>
                        <a:rPr lang="es-CO" sz="900" dirty="0">
                          <a:effectLst/>
                        </a:rPr>
                        <a:t>3</a:t>
                      </a:r>
                      <a:endParaRPr lang="es-CO" sz="9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42545">
                        <a:lnSpc>
                          <a:spcPct val="92000"/>
                        </a:lnSpc>
                        <a:spcBef>
                          <a:spcPts val="130"/>
                        </a:spcBef>
                        <a:spcAft>
                          <a:spcPts val="0"/>
                        </a:spcAft>
                      </a:pPr>
                      <a:r>
                        <a:rPr lang="es-CO" sz="900" dirty="0">
                          <a:effectLst/>
                        </a:rPr>
                        <a:t> El administrador ingresa el nombre del producto, la clave de autorización y le da clic al botón de “confirmar”</a:t>
                      </a:r>
                      <a:endParaRPr lang="es-CO" sz="1000" dirty="0">
                        <a:effectLst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216119899"/>
                  </a:ext>
                </a:extLst>
              </a:tr>
              <a:tr h="557326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45"/>
                        </a:spcBef>
                      </a:pPr>
                      <a:r>
                        <a:rPr lang="es-CO" sz="1000" dirty="0">
                          <a:effectLst/>
                        </a:rPr>
                        <a:t> </a:t>
                      </a:r>
                      <a:endParaRPr lang="es-CO" sz="900" dirty="0">
                        <a:effectLst/>
                      </a:endParaRPr>
                    </a:p>
                    <a:p>
                      <a:pPr marL="173355" algn="ctr">
                        <a:spcBef>
                          <a:spcPts val="5"/>
                        </a:spcBef>
                        <a:spcAft>
                          <a:spcPts val="0"/>
                        </a:spcAft>
                      </a:pPr>
                      <a:r>
                        <a:rPr lang="es-CO" sz="900" dirty="0">
                          <a:effectLst/>
                        </a:rPr>
                        <a:t>4</a:t>
                      </a:r>
                      <a:endParaRPr lang="es-CO" sz="9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42545" marR="32385" algn="just">
                        <a:lnSpc>
                          <a:spcPct val="92000"/>
                        </a:lnSpc>
                        <a:spcBef>
                          <a:spcPts val="265"/>
                        </a:spcBef>
                        <a:spcAft>
                          <a:spcPts val="0"/>
                        </a:spcAft>
                      </a:pPr>
                      <a:r>
                        <a:rPr lang="es-CO" sz="900" dirty="0">
                          <a:effectLst/>
                        </a:rPr>
                        <a:t>El sistema valida que la clave de autorización sea correcta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681091914"/>
                  </a:ext>
                </a:extLst>
              </a:tr>
              <a:tr h="479727">
                <a:tc>
                  <a:txBody>
                    <a:bodyPr/>
                    <a:lstStyle/>
                    <a:p>
                      <a:pPr marL="80645">
                        <a:spcBef>
                          <a:spcPts val="80"/>
                        </a:spcBef>
                        <a:spcAft>
                          <a:spcPts val="0"/>
                        </a:spcAft>
                      </a:pPr>
                      <a:endParaRPr lang="es-CO" sz="9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3355" algn="ctr">
                        <a:spcBef>
                          <a:spcPts val="5"/>
                        </a:spcBef>
                        <a:spcAft>
                          <a:spcPts val="0"/>
                        </a:spcAft>
                      </a:pPr>
                      <a:r>
                        <a:rPr lang="es-CO" sz="900" dirty="0">
                          <a:effectLst/>
                          <a:latin typeface="+mn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5</a:t>
                      </a:r>
                    </a:p>
                  </a:txBody>
                  <a:tcPr marL="0" marR="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42545" marR="32385" algn="just">
                        <a:lnSpc>
                          <a:spcPct val="92000"/>
                        </a:lnSpc>
                        <a:spcBef>
                          <a:spcPts val="265"/>
                        </a:spcBef>
                        <a:spcAft>
                          <a:spcPts val="0"/>
                        </a:spcAft>
                      </a:pPr>
                      <a:r>
                        <a:rPr lang="es-CO" sz="900" dirty="0">
                          <a:effectLst/>
                        </a:rPr>
                        <a:t>El sistema envía un mensaje de “El producto ha sido eliminado exitosamente”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79010348"/>
                  </a:ext>
                </a:extLst>
              </a:tr>
              <a:tr h="399655">
                <a:tc>
                  <a:txBody>
                    <a:bodyPr/>
                    <a:lstStyle/>
                    <a:p>
                      <a:pPr marL="67310">
                        <a:spcBef>
                          <a:spcPts val="265"/>
                        </a:spcBef>
                        <a:spcAft>
                          <a:spcPts val="0"/>
                        </a:spcAft>
                      </a:pPr>
                      <a:r>
                        <a:rPr lang="es-CO" sz="800">
                          <a:effectLst/>
                        </a:rPr>
                        <a:t>Post Condición</a:t>
                      </a:r>
                      <a:endParaRPr lang="es-CO" sz="9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52705">
                        <a:lnSpc>
                          <a:spcPct val="92000"/>
                        </a:lnSpc>
                        <a:spcBef>
                          <a:spcPts val="15"/>
                        </a:spcBef>
                        <a:spcAft>
                          <a:spcPts val="0"/>
                        </a:spcAft>
                      </a:pPr>
                      <a:r>
                        <a:rPr lang="es-CO" sz="800" dirty="0">
                          <a:effectLst/>
                        </a:rPr>
                        <a:t>El producto es eliminado de la base de datos</a:t>
                      </a:r>
                      <a:endParaRPr lang="es-CO" sz="900" dirty="0">
                        <a:effectLst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6203859"/>
                  </a:ext>
                </a:extLst>
              </a:tr>
              <a:tr h="188142">
                <a:tc rowSpan="2">
                  <a:txBody>
                    <a:bodyPr/>
                    <a:lstStyle/>
                    <a:p>
                      <a:pPr marL="41275">
                        <a:lnSpc>
                          <a:spcPts val="1025"/>
                        </a:lnSpc>
                      </a:pPr>
                      <a:r>
                        <a:rPr lang="es-CO" sz="800" dirty="0">
                          <a:effectLst/>
                        </a:rPr>
                        <a:t>Excepciones</a:t>
                      </a:r>
                      <a:endParaRPr lang="es-CO" sz="9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945"/>
                        </a:lnSpc>
                      </a:pPr>
                      <a:r>
                        <a:rPr lang="es-CO" sz="700" spc="-20" dirty="0">
                          <a:effectLst/>
                        </a:rPr>
                        <a:t>Paso</a:t>
                      </a:r>
                      <a:endParaRPr lang="es-CO" sz="9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945"/>
                        </a:lnSpc>
                      </a:pPr>
                      <a:r>
                        <a:rPr lang="es-CO" sz="700" dirty="0">
                          <a:effectLst/>
                        </a:rPr>
                        <a:t> </a:t>
                      </a:r>
                      <a:endParaRPr lang="es-CO" sz="9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2581952"/>
                  </a:ext>
                </a:extLst>
              </a:tr>
              <a:tr h="472567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60"/>
                        </a:spcBef>
                      </a:pPr>
                      <a:r>
                        <a:rPr lang="es-CO" sz="1100" dirty="0">
                          <a:effectLst/>
                        </a:rPr>
                        <a:t> </a:t>
                      </a:r>
                      <a:endParaRPr lang="es-CO" sz="900" dirty="0">
                        <a:effectLst/>
                      </a:endParaRPr>
                    </a:p>
                    <a:p>
                      <a:pPr marL="168275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900" dirty="0">
                          <a:effectLst/>
                          <a:latin typeface="+mn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4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6990" marR="38735" algn="just">
                        <a:lnSpc>
                          <a:spcPct val="106000"/>
                        </a:lnSpc>
                        <a:spcBef>
                          <a:spcPts val="95"/>
                        </a:spcBef>
                        <a:spcAft>
                          <a:spcPts val="0"/>
                        </a:spcAft>
                      </a:pPr>
                      <a:r>
                        <a:rPr lang="es-CO" sz="1000" dirty="0">
                          <a:effectLst/>
                        </a:rPr>
                        <a:t>Si la clave  de autorización es incorrecta el sistema muestra un mensaje de “Clave de autorización incorrecta, para eliminar el producto ingrese la clave de autorización”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0950022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575004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E0EBBD71-DE59-4737-8477-AD25DF4395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3795" y="599979"/>
            <a:ext cx="9784410" cy="5658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76910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CF304E08-0840-6C4D-B809-1736BD1585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0867013"/>
              </p:ext>
            </p:extLst>
          </p:nvPr>
        </p:nvGraphicFramePr>
        <p:xfrm>
          <a:off x="3297038" y="795131"/>
          <a:ext cx="5343895" cy="5364302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658125">
                  <a:extLst>
                    <a:ext uri="{9D8B030D-6E8A-4147-A177-3AD203B41FA5}">
                      <a16:colId xmlns:a16="http://schemas.microsoft.com/office/drawing/2014/main" val="3120827593"/>
                    </a:ext>
                  </a:extLst>
                </a:gridCol>
                <a:gridCol w="2342885">
                  <a:extLst>
                    <a:ext uri="{9D8B030D-6E8A-4147-A177-3AD203B41FA5}">
                      <a16:colId xmlns:a16="http://schemas.microsoft.com/office/drawing/2014/main" val="3560936693"/>
                    </a:ext>
                  </a:extLst>
                </a:gridCol>
                <a:gridCol w="2342885">
                  <a:extLst>
                    <a:ext uri="{9D8B030D-6E8A-4147-A177-3AD203B41FA5}">
                      <a16:colId xmlns:a16="http://schemas.microsoft.com/office/drawing/2014/main" val="3680774726"/>
                    </a:ext>
                  </a:extLst>
                </a:gridCol>
              </a:tblGrid>
              <a:tr h="219207">
                <a:tc>
                  <a:txBody>
                    <a:bodyPr/>
                    <a:lstStyle/>
                    <a:p>
                      <a:pPr marL="34925">
                        <a:lnSpc>
                          <a:spcPts val="965"/>
                        </a:lnSpc>
                      </a:pPr>
                      <a:r>
                        <a:rPr lang="es-CO" sz="800">
                          <a:effectLst/>
                        </a:rPr>
                        <a:t>Casos de Uso</a:t>
                      </a:r>
                      <a:endParaRPr lang="es-CO" sz="9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019175">
                        <a:lnSpc>
                          <a:spcPts val="965"/>
                        </a:lnSpc>
                      </a:pPr>
                      <a:r>
                        <a:rPr lang="es-CO" sz="800" dirty="0">
                          <a:effectLst/>
                        </a:rPr>
                        <a:t>   </a:t>
                      </a:r>
                    </a:p>
                    <a:p>
                      <a:pPr marL="1019175">
                        <a:lnSpc>
                          <a:spcPts val="965"/>
                        </a:lnSpc>
                      </a:pPr>
                      <a:r>
                        <a:rPr lang="es-CO" sz="900" dirty="0">
                          <a:effectLst/>
                          <a:latin typeface="Calibri  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                 Inhabilitar producto</a:t>
                      </a: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569667"/>
                  </a:ext>
                </a:extLst>
              </a:tr>
              <a:tr h="468018">
                <a:tc>
                  <a:txBody>
                    <a:bodyPr/>
                    <a:lstStyle/>
                    <a:p>
                      <a:pPr marL="9525">
                        <a:spcBef>
                          <a:spcPts val="105"/>
                        </a:spcBef>
                        <a:spcAft>
                          <a:spcPts val="0"/>
                        </a:spcAft>
                      </a:pPr>
                      <a:endParaRPr lang="es-CO" sz="800" dirty="0">
                        <a:effectLst/>
                      </a:endParaRPr>
                    </a:p>
                    <a:p>
                      <a:pPr marL="9525">
                        <a:spcBef>
                          <a:spcPts val="105"/>
                        </a:spcBef>
                        <a:spcAft>
                          <a:spcPts val="0"/>
                        </a:spcAft>
                      </a:pPr>
                      <a:r>
                        <a:rPr lang="es-CO" sz="800" dirty="0">
                          <a:effectLst/>
                        </a:rPr>
                        <a:t>Descripción</a:t>
                      </a:r>
                      <a:endParaRPr lang="es-CO" sz="9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69215" marR="60325" algn="just">
                        <a:lnSpc>
                          <a:spcPct val="90000"/>
                        </a:lnSpc>
                        <a:spcBef>
                          <a:spcPts val="185"/>
                        </a:spcBef>
                        <a:spcAft>
                          <a:spcPts val="0"/>
                        </a:spcAft>
                      </a:pPr>
                      <a:endParaRPr lang="es-CO" sz="900" dirty="0">
                        <a:effectLst/>
                      </a:endParaRPr>
                    </a:p>
                    <a:p>
                      <a:pPr marL="69215" marR="60325" algn="just">
                        <a:lnSpc>
                          <a:spcPct val="90000"/>
                        </a:lnSpc>
                        <a:spcBef>
                          <a:spcPts val="185"/>
                        </a:spcBef>
                        <a:spcAft>
                          <a:spcPts val="0"/>
                        </a:spcAft>
                      </a:pPr>
                      <a:r>
                        <a:rPr lang="es-CO" sz="900" dirty="0">
                          <a:effectLst/>
                        </a:rPr>
                        <a:t>El sistema debe permitir al usuario inhabilitar productos</a:t>
                      </a: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6538039"/>
                  </a:ext>
                </a:extLst>
              </a:tr>
              <a:tr h="375116">
                <a:tc>
                  <a:txBody>
                    <a:bodyPr/>
                    <a:lstStyle/>
                    <a:p>
                      <a:pPr>
                        <a:spcBef>
                          <a:spcPts val="565"/>
                        </a:spcBef>
                        <a:spcAft>
                          <a:spcPts val="0"/>
                        </a:spcAft>
                      </a:pPr>
                      <a:r>
                        <a:rPr lang="es-CO" sz="800">
                          <a:effectLst/>
                        </a:rPr>
                        <a:t>Precondición</a:t>
                      </a:r>
                      <a:endParaRPr lang="es-CO" sz="9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69215" marR="2540">
                        <a:lnSpc>
                          <a:spcPct val="90000"/>
                        </a:lnSpc>
                        <a:spcBef>
                          <a:spcPts val="255"/>
                        </a:spcBef>
                        <a:spcAft>
                          <a:spcPts val="0"/>
                        </a:spcAft>
                      </a:pPr>
                      <a:r>
                        <a:rPr lang="es-CO" sz="900" dirty="0">
                          <a:effectLst/>
                        </a:rPr>
                        <a:t>El producto debe estar registrado en el sistema</a:t>
                      </a:r>
                      <a:endParaRPr lang="es-CO" sz="10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8533601"/>
                  </a:ext>
                </a:extLst>
              </a:tr>
              <a:tr h="175287">
                <a:tc rowSpan="5">
                  <a:txBody>
                    <a:bodyPr/>
                    <a:lstStyle/>
                    <a:p>
                      <a:pPr marL="41275">
                        <a:lnSpc>
                          <a:spcPts val="925"/>
                        </a:lnSpc>
                      </a:pPr>
                      <a:r>
                        <a:rPr lang="es-CO" sz="800" dirty="0">
                          <a:effectLst/>
                        </a:rPr>
                        <a:t>Secuencia</a:t>
                      </a:r>
                      <a:endParaRPr lang="es-CO" sz="900" dirty="0">
                        <a:effectLst/>
                      </a:endParaRPr>
                    </a:p>
                    <a:p>
                      <a:pPr marL="80645">
                        <a:spcBef>
                          <a:spcPts val="80"/>
                        </a:spcBef>
                        <a:spcAft>
                          <a:spcPts val="0"/>
                        </a:spcAft>
                      </a:pPr>
                      <a:r>
                        <a:rPr lang="es-CO" sz="800" dirty="0">
                          <a:effectLst/>
                        </a:rPr>
                        <a:t>Normal</a:t>
                      </a:r>
                      <a:endParaRPr lang="es-CO" sz="9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845"/>
                        </a:lnSpc>
                      </a:pPr>
                      <a:r>
                        <a:rPr lang="es-CO" sz="700" spc="-20" dirty="0">
                          <a:effectLst/>
                        </a:rPr>
                        <a:t>Paso</a:t>
                      </a:r>
                      <a:endParaRPr lang="es-CO" sz="9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ts val="845"/>
                        </a:lnSpc>
                      </a:pPr>
                      <a:r>
                        <a:rPr lang="es-CO" sz="700">
                          <a:effectLst/>
                        </a:rPr>
                        <a:t>Acción</a:t>
                      </a:r>
                      <a:endParaRPr lang="es-CO" sz="9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715582348"/>
                  </a:ext>
                </a:extLst>
              </a:tr>
              <a:tr h="283496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3355" algn="ctr">
                        <a:lnSpc>
                          <a:spcPts val="960"/>
                        </a:lnSpc>
                      </a:pPr>
                      <a:r>
                        <a:rPr lang="es-CO" sz="900" dirty="0">
                          <a:effectLst/>
                        </a:rPr>
                        <a:t>1</a:t>
                      </a:r>
                      <a:endParaRPr lang="es-CO" sz="9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42545">
                        <a:spcBef>
                          <a:spcPts val="45"/>
                        </a:spcBef>
                        <a:spcAft>
                          <a:spcPts val="0"/>
                        </a:spcAft>
                      </a:pPr>
                      <a:r>
                        <a:rPr lang="es-CO" sz="800" dirty="0">
                          <a:effectLst/>
                        </a:rPr>
                        <a:t>El usuario autorizado selecciona el producto</a:t>
                      </a:r>
                      <a:endParaRPr lang="es-CO" sz="900" dirty="0">
                        <a:effectLst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774530266"/>
                  </a:ext>
                </a:extLst>
              </a:tr>
              <a:tr h="482624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30"/>
                        </a:spcBef>
                      </a:pPr>
                      <a:r>
                        <a:rPr lang="es-CO" sz="700" dirty="0">
                          <a:effectLst/>
                        </a:rPr>
                        <a:t> </a:t>
                      </a:r>
                      <a:endParaRPr lang="es-CO" sz="900" dirty="0">
                        <a:effectLst/>
                      </a:endParaRPr>
                    </a:p>
                    <a:p>
                      <a:pPr marL="173355" algn="ctr"/>
                      <a:r>
                        <a:rPr lang="es-CO" sz="900" dirty="0">
                          <a:effectLst/>
                        </a:rPr>
                        <a:t>2</a:t>
                      </a:r>
                      <a:endParaRPr lang="es-CO" sz="9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42545" marR="40640" algn="just">
                        <a:lnSpc>
                          <a:spcPct val="92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s-CO" sz="1000" dirty="0">
                          <a:effectLst/>
                          <a:latin typeface="+mn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El usuario selecciona que tiempo quiero inhabilitar producto(1 mes, 3 meses, 6 meses, indefinidamente)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186590003"/>
                  </a:ext>
                </a:extLst>
              </a:tr>
              <a:tr h="420665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3355" algn="ctr">
                        <a:lnSpc>
                          <a:spcPts val="1075"/>
                        </a:lnSpc>
                      </a:pPr>
                      <a:r>
                        <a:rPr lang="es-CO" sz="900" dirty="0">
                          <a:effectLst/>
                        </a:rPr>
                        <a:t>3</a:t>
                      </a:r>
                      <a:endParaRPr lang="es-CO" sz="9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42545" marR="0" lvl="0" indent="0" algn="l" defTabSz="457200" rtl="0" eaLnBrk="1" fontAlgn="auto" latinLnBrk="0" hangingPunct="1">
                        <a:lnSpc>
                          <a:spcPct val="92000"/>
                        </a:lnSpc>
                        <a:spcBef>
                          <a:spcPts val="13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000" dirty="0">
                          <a:effectLst/>
                          <a:latin typeface="+mn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Se pide ingresar clave de autorización </a:t>
                      </a:r>
                    </a:p>
                    <a:p>
                      <a:pPr marL="42545">
                        <a:lnSpc>
                          <a:spcPct val="92000"/>
                        </a:lnSpc>
                        <a:spcBef>
                          <a:spcPts val="130"/>
                        </a:spcBef>
                        <a:spcAft>
                          <a:spcPts val="0"/>
                        </a:spcAft>
                      </a:pPr>
                      <a:endParaRPr lang="es-CO" sz="1000" dirty="0">
                        <a:effectLst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216119899"/>
                  </a:ext>
                </a:extLst>
              </a:tr>
              <a:tr h="557326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45"/>
                        </a:spcBef>
                      </a:pPr>
                      <a:r>
                        <a:rPr lang="es-CO" sz="1000" dirty="0">
                          <a:effectLst/>
                        </a:rPr>
                        <a:t> </a:t>
                      </a:r>
                      <a:endParaRPr lang="es-CO" sz="900" dirty="0">
                        <a:effectLst/>
                      </a:endParaRPr>
                    </a:p>
                    <a:p>
                      <a:pPr marL="173355" algn="ctr">
                        <a:spcBef>
                          <a:spcPts val="5"/>
                        </a:spcBef>
                        <a:spcAft>
                          <a:spcPts val="0"/>
                        </a:spcAft>
                      </a:pPr>
                      <a:r>
                        <a:rPr lang="es-CO" sz="900" dirty="0">
                          <a:effectLst/>
                        </a:rPr>
                        <a:t>4</a:t>
                      </a:r>
                      <a:endParaRPr lang="es-CO" sz="9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42545" marR="32385" algn="just">
                        <a:lnSpc>
                          <a:spcPct val="92000"/>
                        </a:lnSpc>
                        <a:spcBef>
                          <a:spcPts val="265"/>
                        </a:spcBef>
                        <a:spcAft>
                          <a:spcPts val="0"/>
                        </a:spcAft>
                      </a:pPr>
                      <a:r>
                        <a:rPr lang="es-CO" sz="900" dirty="0">
                          <a:effectLst/>
                        </a:rPr>
                        <a:t>El sistema valida que la clave de autorización sea correcta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681091914"/>
                  </a:ext>
                </a:extLst>
              </a:tr>
              <a:tr h="479727">
                <a:tc>
                  <a:txBody>
                    <a:bodyPr/>
                    <a:lstStyle/>
                    <a:p>
                      <a:pPr marL="80645">
                        <a:spcBef>
                          <a:spcPts val="80"/>
                        </a:spcBef>
                        <a:spcAft>
                          <a:spcPts val="0"/>
                        </a:spcAft>
                      </a:pPr>
                      <a:endParaRPr lang="es-CO" sz="9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3355" algn="ctr">
                        <a:spcBef>
                          <a:spcPts val="5"/>
                        </a:spcBef>
                        <a:spcAft>
                          <a:spcPts val="0"/>
                        </a:spcAft>
                      </a:pPr>
                      <a:r>
                        <a:rPr lang="es-CO" sz="900" dirty="0">
                          <a:effectLst/>
                          <a:latin typeface="+mn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5</a:t>
                      </a:r>
                    </a:p>
                  </a:txBody>
                  <a:tcPr marL="0" marR="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42545" marR="32385" algn="just">
                        <a:lnSpc>
                          <a:spcPct val="92000"/>
                        </a:lnSpc>
                        <a:spcBef>
                          <a:spcPts val="265"/>
                        </a:spcBef>
                        <a:spcAft>
                          <a:spcPts val="0"/>
                        </a:spcAft>
                      </a:pPr>
                      <a:r>
                        <a:rPr lang="es-CO" sz="900" dirty="0">
                          <a:effectLst/>
                        </a:rPr>
                        <a:t>El sistema </a:t>
                      </a:r>
                      <a:r>
                        <a:rPr lang="es-CO" sz="900" dirty="0" err="1">
                          <a:effectLst/>
                        </a:rPr>
                        <a:t>envia</a:t>
                      </a:r>
                      <a:r>
                        <a:rPr lang="es-CO" sz="900" dirty="0">
                          <a:effectLst/>
                        </a:rPr>
                        <a:t> un mensaje de “El producto fue inhabilitado”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79010348"/>
                  </a:ext>
                </a:extLst>
              </a:tr>
              <a:tr h="399655">
                <a:tc>
                  <a:txBody>
                    <a:bodyPr/>
                    <a:lstStyle/>
                    <a:p>
                      <a:pPr marL="67310">
                        <a:spcBef>
                          <a:spcPts val="265"/>
                        </a:spcBef>
                        <a:spcAft>
                          <a:spcPts val="0"/>
                        </a:spcAft>
                      </a:pPr>
                      <a:r>
                        <a:rPr lang="es-CO" sz="800">
                          <a:effectLst/>
                        </a:rPr>
                        <a:t>Post Condición</a:t>
                      </a:r>
                      <a:endParaRPr lang="es-CO" sz="9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52705">
                        <a:lnSpc>
                          <a:spcPct val="92000"/>
                        </a:lnSpc>
                        <a:spcBef>
                          <a:spcPts val="15"/>
                        </a:spcBef>
                        <a:spcAft>
                          <a:spcPts val="0"/>
                        </a:spcAft>
                      </a:pPr>
                      <a:r>
                        <a:rPr lang="es-CO" sz="800" dirty="0">
                          <a:effectLst/>
                        </a:rPr>
                        <a:t>El producto es inhabilitado del sistema</a:t>
                      </a:r>
                      <a:endParaRPr lang="es-CO" sz="900" dirty="0">
                        <a:effectLst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6203859"/>
                  </a:ext>
                </a:extLst>
              </a:tr>
              <a:tr h="188142">
                <a:tc rowSpan="2">
                  <a:txBody>
                    <a:bodyPr/>
                    <a:lstStyle/>
                    <a:p>
                      <a:pPr marL="41275">
                        <a:lnSpc>
                          <a:spcPts val="1025"/>
                        </a:lnSpc>
                      </a:pPr>
                      <a:r>
                        <a:rPr lang="es-CO" sz="800" dirty="0">
                          <a:effectLst/>
                        </a:rPr>
                        <a:t>Excepciones</a:t>
                      </a:r>
                      <a:endParaRPr lang="es-CO" sz="9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945"/>
                        </a:lnSpc>
                      </a:pPr>
                      <a:r>
                        <a:rPr lang="es-CO" sz="700" spc="-20" dirty="0">
                          <a:effectLst/>
                        </a:rPr>
                        <a:t>Paso</a:t>
                      </a:r>
                      <a:endParaRPr lang="es-CO" sz="9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945"/>
                        </a:lnSpc>
                      </a:pPr>
                      <a:r>
                        <a:rPr lang="es-CO" sz="700" dirty="0">
                          <a:effectLst/>
                        </a:rPr>
                        <a:t> </a:t>
                      </a:r>
                      <a:endParaRPr lang="es-CO" sz="9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2581952"/>
                  </a:ext>
                </a:extLst>
              </a:tr>
              <a:tr h="472567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60"/>
                        </a:spcBef>
                      </a:pPr>
                      <a:r>
                        <a:rPr lang="es-CO" sz="1100" dirty="0">
                          <a:effectLst/>
                        </a:rPr>
                        <a:t> </a:t>
                      </a:r>
                      <a:endParaRPr lang="es-CO" sz="900" dirty="0">
                        <a:effectLst/>
                      </a:endParaRPr>
                    </a:p>
                    <a:p>
                      <a:pPr marL="168275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9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2</a:t>
                      </a: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46990" marR="38735" algn="just">
                        <a:lnSpc>
                          <a:spcPct val="106000"/>
                        </a:lnSpc>
                        <a:spcBef>
                          <a:spcPts val="95"/>
                        </a:spcBef>
                        <a:spcAft>
                          <a:spcPts val="0"/>
                        </a:spcAft>
                      </a:pPr>
                      <a:r>
                        <a:rPr lang="es-CO" sz="1000" dirty="0">
                          <a:effectLst/>
                        </a:rPr>
                        <a:t>Si el usuario no selecciona el tiempo que desea inhabilitar el producto el sistema enviara un mensaje de “Seleccione el tiempo de inhabilitación del producto”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095002290"/>
                  </a:ext>
                </a:extLst>
              </a:tr>
              <a:tr h="472567">
                <a:tc>
                  <a:txBody>
                    <a:bodyPr/>
                    <a:lstStyle/>
                    <a:p>
                      <a:pPr marL="41275">
                        <a:lnSpc>
                          <a:spcPts val="1025"/>
                        </a:lnSpc>
                      </a:pPr>
                      <a:endParaRPr lang="es-CO" sz="9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68275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900" dirty="0">
                          <a:effectLst/>
                          <a:latin typeface="+mn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3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6990" marR="38735" algn="just">
                        <a:lnSpc>
                          <a:spcPct val="106000"/>
                        </a:lnSpc>
                        <a:spcBef>
                          <a:spcPts val="95"/>
                        </a:spcBef>
                        <a:spcAft>
                          <a:spcPts val="0"/>
                        </a:spcAft>
                      </a:pPr>
                      <a:r>
                        <a:rPr lang="es-CO" sz="1000" dirty="0">
                          <a:effectLst/>
                        </a:rPr>
                        <a:t>Si la clave de autorización es incorrecta, el producto no es inhabilitado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4122800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582482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CE947146-5A6B-486F-8761-5617CD009D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7155" y="0"/>
            <a:ext cx="953768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40161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CF304E08-0840-6C4D-B809-1736BD1585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1602397"/>
              </p:ext>
            </p:extLst>
          </p:nvPr>
        </p:nvGraphicFramePr>
        <p:xfrm>
          <a:off x="3297038" y="795131"/>
          <a:ext cx="5343895" cy="4237805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658125">
                  <a:extLst>
                    <a:ext uri="{9D8B030D-6E8A-4147-A177-3AD203B41FA5}">
                      <a16:colId xmlns:a16="http://schemas.microsoft.com/office/drawing/2014/main" val="3120827593"/>
                    </a:ext>
                  </a:extLst>
                </a:gridCol>
                <a:gridCol w="2342885">
                  <a:extLst>
                    <a:ext uri="{9D8B030D-6E8A-4147-A177-3AD203B41FA5}">
                      <a16:colId xmlns:a16="http://schemas.microsoft.com/office/drawing/2014/main" val="3560936693"/>
                    </a:ext>
                  </a:extLst>
                </a:gridCol>
                <a:gridCol w="2342885">
                  <a:extLst>
                    <a:ext uri="{9D8B030D-6E8A-4147-A177-3AD203B41FA5}">
                      <a16:colId xmlns:a16="http://schemas.microsoft.com/office/drawing/2014/main" val="3680774726"/>
                    </a:ext>
                  </a:extLst>
                </a:gridCol>
              </a:tblGrid>
              <a:tr h="219207">
                <a:tc>
                  <a:txBody>
                    <a:bodyPr/>
                    <a:lstStyle/>
                    <a:p>
                      <a:pPr marL="34925">
                        <a:lnSpc>
                          <a:spcPts val="965"/>
                        </a:lnSpc>
                      </a:pPr>
                      <a:r>
                        <a:rPr lang="es-CO" sz="800">
                          <a:effectLst/>
                        </a:rPr>
                        <a:t>Casos de Uso</a:t>
                      </a:r>
                      <a:endParaRPr lang="es-CO" sz="9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019175">
                        <a:lnSpc>
                          <a:spcPts val="965"/>
                        </a:lnSpc>
                      </a:pPr>
                      <a:r>
                        <a:rPr lang="es-CO" sz="800" dirty="0">
                          <a:effectLst/>
                        </a:rPr>
                        <a:t>   </a:t>
                      </a:r>
                    </a:p>
                    <a:p>
                      <a:pPr marL="1019175">
                        <a:lnSpc>
                          <a:spcPts val="965"/>
                        </a:lnSpc>
                      </a:pPr>
                      <a:r>
                        <a:rPr lang="es-CO" sz="900" dirty="0">
                          <a:effectLst/>
                          <a:latin typeface="Calibri  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                     Consultar producto</a:t>
                      </a: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569667"/>
                  </a:ext>
                </a:extLst>
              </a:tr>
              <a:tr h="468018">
                <a:tc>
                  <a:txBody>
                    <a:bodyPr/>
                    <a:lstStyle/>
                    <a:p>
                      <a:pPr marL="9525">
                        <a:spcBef>
                          <a:spcPts val="105"/>
                        </a:spcBef>
                        <a:spcAft>
                          <a:spcPts val="0"/>
                        </a:spcAft>
                      </a:pPr>
                      <a:endParaRPr lang="es-CO" sz="800" dirty="0">
                        <a:effectLst/>
                      </a:endParaRPr>
                    </a:p>
                    <a:p>
                      <a:pPr marL="9525">
                        <a:spcBef>
                          <a:spcPts val="105"/>
                        </a:spcBef>
                        <a:spcAft>
                          <a:spcPts val="0"/>
                        </a:spcAft>
                      </a:pPr>
                      <a:r>
                        <a:rPr lang="es-CO" sz="800" dirty="0">
                          <a:effectLst/>
                        </a:rPr>
                        <a:t>Descripción</a:t>
                      </a:r>
                      <a:endParaRPr lang="es-CO" sz="9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69215" marR="60325" algn="just">
                        <a:lnSpc>
                          <a:spcPct val="90000"/>
                        </a:lnSpc>
                        <a:spcBef>
                          <a:spcPts val="185"/>
                        </a:spcBef>
                        <a:spcAft>
                          <a:spcPts val="0"/>
                        </a:spcAft>
                      </a:pPr>
                      <a:endParaRPr lang="es-CO" sz="900" dirty="0">
                        <a:effectLst/>
                      </a:endParaRPr>
                    </a:p>
                    <a:p>
                      <a:pPr marL="69215" marR="60325" algn="just">
                        <a:lnSpc>
                          <a:spcPct val="90000"/>
                        </a:lnSpc>
                        <a:spcBef>
                          <a:spcPts val="185"/>
                        </a:spcBef>
                        <a:spcAft>
                          <a:spcPts val="0"/>
                        </a:spcAft>
                      </a:pPr>
                      <a:r>
                        <a:rPr lang="es-CO" sz="900" dirty="0">
                          <a:effectLst/>
                        </a:rPr>
                        <a:t>El sistema debe permitir consultar productos </a:t>
                      </a: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6538039"/>
                  </a:ext>
                </a:extLst>
              </a:tr>
              <a:tr h="375116">
                <a:tc>
                  <a:txBody>
                    <a:bodyPr/>
                    <a:lstStyle/>
                    <a:p>
                      <a:pPr>
                        <a:spcBef>
                          <a:spcPts val="565"/>
                        </a:spcBef>
                        <a:spcAft>
                          <a:spcPts val="0"/>
                        </a:spcAft>
                      </a:pPr>
                      <a:r>
                        <a:rPr lang="es-CO" sz="800">
                          <a:effectLst/>
                        </a:rPr>
                        <a:t>Precondición</a:t>
                      </a:r>
                      <a:endParaRPr lang="es-CO" sz="9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69215" marR="2540">
                        <a:lnSpc>
                          <a:spcPct val="90000"/>
                        </a:lnSpc>
                        <a:spcBef>
                          <a:spcPts val="255"/>
                        </a:spcBef>
                        <a:spcAft>
                          <a:spcPts val="0"/>
                        </a:spcAft>
                      </a:pPr>
                      <a:r>
                        <a:rPr lang="es-CO" sz="900" dirty="0">
                          <a:effectLst/>
                        </a:rPr>
                        <a:t>El producto debe estar en el sistema</a:t>
                      </a:r>
                      <a:endParaRPr lang="es-CO" sz="10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8533601"/>
                  </a:ext>
                </a:extLst>
              </a:tr>
              <a:tr h="175287">
                <a:tc rowSpan="5">
                  <a:txBody>
                    <a:bodyPr/>
                    <a:lstStyle/>
                    <a:p>
                      <a:pPr marL="41275">
                        <a:lnSpc>
                          <a:spcPts val="925"/>
                        </a:lnSpc>
                      </a:pPr>
                      <a:r>
                        <a:rPr lang="es-CO" sz="800" dirty="0">
                          <a:effectLst/>
                        </a:rPr>
                        <a:t>Secuencia</a:t>
                      </a:r>
                      <a:endParaRPr lang="es-CO" sz="900" dirty="0">
                        <a:effectLst/>
                      </a:endParaRPr>
                    </a:p>
                    <a:p>
                      <a:pPr marL="80645">
                        <a:spcBef>
                          <a:spcPts val="80"/>
                        </a:spcBef>
                        <a:spcAft>
                          <a:spcPts val="0"/>
                        </a:spcAft>
                      </a:pPr>
                      <a:r>
                        <a:rPr lang="es-CO" sz="800" dirty="0">
                          <a:effectLst/>
                        </a:rPr>
                        <a:t>Normal</a:t>
                      </a:r>
                      <a:endParaRPr lang="es-CO" sz="9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845"/>
                        </a:lnSpc>
                      </a:pPr>
                      <a:r>
                        <a:rPr lang="es-CO" sz="700" spc="-20" dirty="0">
                          <a:effectLst/>
                        </a:rPr>
                        <a:t>Paso</a:t>
                      </a:r>
                      <a:endParaRPr lang="es-CO" sz="9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ts val="845"/>
                        </a:lnSpc>
                      </a:pPr>
                      <a:r>
                        <a:rPr lang="es-CO" sz="700">
                          <a:effectLst/>
                        </a:rPr>
                        <a:t>Acción</a:t>
                      </a:r>
                      <a:endParaRPr lang="es-CO" sz="9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715582348"/>
                  </a:ext>
                </a:extLst>
              </a:tr>
              <a:tr h="283496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3355" algn="ctr">
                        <a:lnSpc>
                          <a:spcPts val="960"/>
                        </a:lnSpc>
                      </a:pPr>
                      <a:r>
                        <a:rPr lang="es-CO" sz="900" dirty="0">
                          <a:effectLst/>
                        </a:rPr>
                        <a:t>1</a:t>
                      </a:r>
                      <a:endParaRPr lang="es-CO" sz="9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42545">
                        <a:spcBef>
                          <a:spcPts val="45"/>
                        </a:spcBef>
                        <a:spcAft>
                          <a:spcPts val="0"/>
                        </a:spcAft>
                      </a:pPr>
                      <a:r>
                        <a:rPr lang="es-CO" sz="800" dirty="0">
                          <a:effectLst/>
                        </a:rPr>
                        <a:t>El empleado selecciona “Consultar producto”</a:t>
                      </a:r>
                      <a:endParaRPr lang="es-CO" sz="900" dirty="0">
                        <a:effectLst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774530266"/>
                  </a:ext>
                </a:extLst>
              </a:tr>
              <a:tr h="482624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30"/>
                        </a:spcBef>
                      </a:pPr>
                      <a:r>
                        <a:rPr lang="es-CO" sz="700" dirty="0">
                          <a:effectLst/>
                        </a:rPr>
                        <a:t> </a:t>
                      </a:r>
                      <a:endParaRPr lang="es-CO" sz="900" dirty="0">
                        <a:effectLst/>
                      </a:endParaRPr>
                    </a:p>
                    <a:p>
                      <a:pPr marL="173355" algn="ctr"/>
                      <a:r>
                        <a:rPr lang="es-CO" sz="900" dirty="0">
                          <a:effectLst/>
                        </a:rPr>
                        <a:t>2</a:t>
                      </a:r>
                      <a:endParaRPr lang="es-CO" sz="9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42545" marR="40640" algn="just">
                        <a:lnSpc>
                          <a:spcPct val="92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s-CO" sz="1000" dirty="0">
                          <a:effectLst/>
                          <a:latin typeface="+mn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El empleado busca y selecciona el producto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186590003"/>
                  </a:ext>
                </a:extLst>
              </a:tr>
              <a:tr h="420665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3355" algn="ctr">
                        <a:lnSpc>
                          <a:spcPts val="1075"/>
                        </a:lnSpc>
                      </a:pPr>
                      <a:r>
                        <a:rPr lang="es-CO" sz="900" dirty="0">
                          <a:effectLst/>
                        </a:rPr>
                        <a:t>3</a:t>
                      </a:r>
                      <a:endParaRPr lang="es-CO" sz="9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42545">
                        <a:lnSpc>
                          <a:spcPct val="92000"/>
                        </a:lnSpc>
                        <a:spcBef>
                          <a:spcPts val="130"/>
                        </a:spcBef>
                        <a:spcAft>
                          <a:spcPts val="0"/>
                        </a:spcAft>
                      </a:pPr>
                      <a:r>
                        <a:rPr lang="es-CO" sz="1000" dirty="0">
                          <a:effectLst/>
                        </a:rPr>
                        <a:t>El empleado da clic al producto que desea o ingresa el nombre en la barra de búsqueda 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216119899"/>
                  </a:ext>
                </a:extLst>
              </a:tr>
              <a:tr h="557326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45"/>
                        </a:spcBef>
                      </a:pPr>
                      <a:r>
                        <a:rPr lang="es-CO" sz="1000" dirty="0">
                          <a:effectLst/>
                        </a:rPr>
                        <a:t> </a:t>
                      </a:r>
                      <a:endParaRPr lang="es-CO" sz="900" dirty="0">
                        <a:effectLst/>
                      </a:endParaRPr>
                    </a:p>
                    <a:p>
                      <a:pPr marL="173355" algn="ctr">
                        <a:spcBef>
                          <a:spcPts val="5"/>
                        </a:spcBef>
                        <a:spcAft>
                          <a:spcPts val="0"/>
                        </a:spcAft>
                      </a:pPr>
                      <a:r>
                        <a:rPr lang="es-CO" sz="900" dirty="0">
                          <a:effectLst/>
                        </a:rPr>
                        <a:t>4</a:t>
                      </a:r>
                      <a:endParaRPr lang="es-CO" sz="9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42545" marR="32385" algn="just">
                        <a:lnSpc>
                          <a:spcPct val="92000"/>
                        </a:lnSpc>
                        <a:spcBef>
                          <a:spcPts val="265"/>
                        </a:spcBef>
                        <a:spcAft>
                          <a:spcPts val="0"/>
                        </a:spcAft>
                      </a:pPr>
                      <a:r>
                        <a:rPr lang="es-CO" sz="900" dirty="0">
                          <a:effectLst/>
                        </a:rPr>
                        <a:t>Se abre una ventana donde se visualiza la información del producto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681091914"/>
                  </a:ext>
                </a:extLst>
              </a:tr>
              <a:tr h="399655">
                <a:tc>
                  <a:txBody>
                    <a:bodyPr/>
                    <a:lstStyle/>
                    <a:p>
                      <a:pPr marL="67310">
                        <a:spcBef>
                          <a:spcPts val="265"/>
                        </a:spcBef>
                        <a:spcAft>
                          <a:spcPts val="0"/>
                        </a:spcAft>
                      </a:pPr>
                      <a:r>
                        <a:rPr lang="es-CO" sz="800">
                          <a:effectLst/>
                        </a:rPr>
                        <a:t>Post Condición</a:t>
                      </a:r>
                      <a:endParaRPr lang="es-CO" sz="9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52705">
                        <a:lnSpc>
                          <a:spcPct val="92000"/>
                        </a:lnSpc>
                        <a:spcBef>
                          <a:spcPts val="15"/>
                        </a:spcBef>
                        <a:spcAft>
                          <a:spcPts val="0"/>
                        </a:spcAft>
                      </a:pPr>
                      <a:r>
                        <a:rPr lang="es-CO" sz="800" dirty="0">
                          <a:effectLst/>
                        </a:rPr>
                        <a:t>Se visualiza la información del producto</a:t>
                      </a:r>
                      <a:endParaRPr lang="es-CO" sz="900" dirty="0">
                        <a:effectLst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6203859"/>
                  </a:ext>
                </a:extLst>
              </a:tr>
              <a:tr h="188142">
                <a:tc rowSpan="2">
                  <a:txBody>
                    <a:bodyPr/>
                    <a:lstStyle/>
                    <a:p>
                      <a:pPr marL="41275">
                        <a:lnSpc>
                          <a:spcPts val="1025"/>
                        </a:lnSpc>
                      </a:pPr>
                      <a:r>
                        <a:rPr lang="es-CO" sz="800" dirty="0">
                          <a:effectLst/>
                        </a:rPr>
                        <a:t>Excepciones</a:t>
                      </a:r>
                      <a:endParaRPr lang="es-CO" sz="9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945"/>
                        </a:lnSpc>
                      </a:pPr>
                      <a:r>
                        <a:rPr lang="es-CO" sz="700" spc="-20" dirty="0">
                          <a:effectLst/>
                        </a:rPr>
                        <a:t>Paso</a:t>
                      </a:r>
                      <a:endParaRPr lang="es-CO" sz="9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945"/>
                        </a:lnSpc>
                      </a:pPr>
                      <a:r>
                        <a:rPr lang="es-CO" sz="700" dirty="0">
                          <a:effectLst/>
                        </a:rPr>
                        <a:t> </a:t>
                      </a:r>
                      <a:endParaRPr lang="es-CO" sz="9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2581952"/>
                  </a:ext>
                </a:extLst>
              </a:tr>
              <a:tr h="472567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60"/>
                        </a:spcBef>
                      </a:pPr>
                      <a:r>
                        <a:rPr lang="es-CO" sz="1100" dirty="0">
                          <a:effectLst/>
                        </a:rPr>
                        <a:t> </a:t>
                      </a:r>
                      <a:endParaRPr lang="es-CO" sz="900" dirty="0">
                        <a:effectLst/>
                      </a:endParaRPr>
                    </a:p>
                    <a:p>
                      <a:pPr marL="168275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900" dirty="0">
                          <a:effectLst/>
                          <a:latin typeface="+mn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2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6990" marR="38735" algn="just">
                        <a:lnSpc>
                          <a:spcPct val="106000"/>
                        </a:lnSpc>
                        <a:spcBef>
                          <a:spcPts val="95"/>
                        </a:spcBef>
                        <a:spcAft>
                          <a:spcPts val="0"/>
                        </a:spcAft>
                      </a:pPr>
                      <a:r>
                        <a:rPr lang="es-CO" sz="1000" dirty="0">
                          <a:effectLst/>
                        </a:rPr>
                        <a:t>Si el producto no se encuentra en el sistema se enviara un mensaje de “El producto no se encuentra en el sistema”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0950022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58789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012F685A-BF0E-43BC-97F3-31293B075C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1153" y="774293"/>
            <a:ext cx="7069694" cy="5309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68557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0080D459-0DB0-4566-B34E-FD43F61FA3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310561"/>
              </p:ext>
            </p:extLst>
          </p:nvPr>
        </p:nvGraphicFramePr>
        <p:xfrm>
          <a:off x="2721460" y="1804474"/>
          <a:ext cx="6135937" cy="4074980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755669">
                  <a:extLst>
                    <a:ext uri="{9D8B030D-6E8A-4147-A177-3AD203B41FA5}">
                      <a16:colId xmlns:a16="http://schemas.microsoft.com/office/drawing/2014/main" val="3120827593"/>
                    </a:ext>
                  </a:extLst>
                </a:gridCol>
                <a:gridCol w="2690134">
                  <a:extLst>
                    <a:ext uri="{9D8B030D-6E8A-4147-A177-3AD203B41FA5}">
                      <a16:colId xmlns:a16="http://schemas.microsoft.com/office/drawing/2014/main" val="3560936693"/>
                    </a:ext>
                  </a:extLst>
                </a:gridCol>
                <a:gridCol w="2690134">
                  <a:extLst>
                    <a:ext uri="{9D8B030D-6E8A-4147-A177-3AD203B41FA5}">
                      <a16:colId xmlns:a16="http://schemas.microsoft.com/office/drawing/2014/main" val="3680774726"/>
                    </a:ext>
                  </a:extLst>
                </a:gridCol>
              </a:tblGrid>
              <a:tr h="288220">
                <a:tc>
                  <a:txBody>
                    <a:bodyPr/>
                    <a:lstStyle/>
                    <a:p>
                      <a:pPr marL="34925">
                        <a:lnSpc>
                          <a:spcPts val="965"/>
                        </a:lnSpc>
                      </a:pPr>
                      <a:r>
                        <a:rPr lang="es-CO" sz="800">
                          <a:effectLst/>
                        </a:rPr>
                        <a:t>Casos de Uso</a:t>
                      </a:r>
                      <a:endParaRPr lang="es-CO" sz="9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019175">
                        <a:lnSpc>
                          <a:spcPts val="965"/>
                        </a:lnSpc>
                      </a:pPr>
                      <a:r>
                        <a:rPr lang="es-CO" sz="800" dirty="0">
                          <a:effectLst/>
                        </a:rPr>
                        <a:t>   </a:t>
                      </a:r>
                    </a:p>
                    <a:p>
                      <a:pPr marL="1019175">
                        <a:lnSpc>
                          <a:spcPts val="965"/>
                        </a:lnSpc>
                      </a:pPr>
                      <a:r>
                        <a:rPr lang="es-CO" sz="800" dirty="0">
                          <a:effectLst/>
                        </a:rPr>
                        <a:t>                                  Consulta de inventarios</a:t>
                      </a:r>
                      <a:endParaRPr lang="es-CO" sz="9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569667"/>
                  </a:ext>
                </a:extLst>
              </a:tr>
              <a:tr h="468018">
                <a:tc>
                  <a:txBody>
                    <a:bodyPr/>
                    <a:lstStyle/>
                    <a:p>
                      <a:pPr marL="9525">
                        <a:spcBef>
                          <a:spcPts val="105"/>
                        </a:spcBef>
                        <a:spcAft>
                          <a:spcPts val="0"/>
                        </a:spcAft>
                      </a:pPr>
                      <a:endParaRPr lang="es-CO" sz="800" dirty="0">
                        <a:effectLst/>
                      </a:endParaRPr>
                    </a:p>
                    <a:p>
                      <a:pPr marL="9525">
                        <a:spcBef>
                          <a:spcPts val="105"/>
                        </a:spcBef>
                        <a:spcAft>
                          <a:spcPts val="0"/>
                        </a:spcAft>
                      </a:pPr>
                      <a:r>
                        <a:rPr lang="es-CO" sz="800" dirty="0">
                          <a:effectLst/>
                        </a:rPr>
                        <a:t>Descripción</a:t>
                      </a:r>
                      <a:endParaRPr lang="es-CO" sz="9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69215" marR="60325" algn="just">
                        <a:lnSpc>
                          <a:spcPct val="90000"/>
                        </a:lnSpc>
                        <a:spcBef>
                          <a:spcPts val="185"/>
                        </a:spcBef>
                        <a:spcAft>
                          <a:spcPts val="0"/>
                        </a:spcAft>
                      </a:pPr>
                      <a:endParaRPr lang="es-CO" sz="800" dirty="0">
                        <a:effectLst/>
                      </a:endParaRPr>
                    </a:p>
                    <a:p>
                      <a:pPr marL="69215" marR="60325" algn="just">
                        <a:lnSpc>
                          <a:spcPct val="90000"/>
                        </a:lnSpc>
                        <a:spcBef>
                          <a:spcPts val="185"/>
                        </a:spcBef>
                        <a:spcAft>
                          <a:spcPts val="0"/>
                        </a:spcAft>
                      </a:pPr>
                      <a:r>
                        <a:rPr lang="es-CO" sz="800" dirty="0">
                          <a:effectLst/>
                        </a:rPr>
                        <a:t>El sistema debe permitir al empleado </a:t>
                      </a:r>
                      <a:r>
                        <a:rPr lang="es-CO" sz="800" u="sng" dirty="0">
                          <a:effectLst/>
                        </a:rPr>
                        <a:t>consultar</a:t>
                      </a:r>
                      <a:r>
                        <a:rPr lang="es-CO" sz="800" dirty="0">
                          <a:effectLst/>
                        </a:rPr>
                        <a:t> los productos y su iterador.</a:t>
                      </a: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6538039"/>
                  </a:ext>
                </a:extLst>
              </a:tr>
              <a:tr h="375116">
                <a:tc>
                  <a:txBody>
                    <a:bodyPr/>
                    <a:lstStyle/>
                    <a:p>
                      <a:pPr>
                        <a:spcBef>
                          <a:spcPts val="565"/>
                        </a:spcBef>
                        <a:spcAft>
                          <a:spcPts val="0"/>
                        </a:spcAft>
                      </a:pPr>
                      <a:r>
                        <a:rPr lang="es-CO" sz="800">
                          <a:effectLst/>
                        </a:rPr>
                        <a:t>Precondición</a:t>
                      </a:r>
                      <a:endParaRPr lang="es-CO" sz="9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69215" marR="2540">
                        <a:lnSpc>
                          <a:spcPct val="90000"/>
                        </a:lnSpc>
                        <a:spcBef>
                          <a:spcPts val="255"/>
                        </a:spcBef>
                        <a:spcAft>
                          <a:spcPts val="0"/>
                        </a:spcAft>
                      </a:pPr>
                      <a:r>
                        <a:rPr lang="es-CO" sz="800" dirty="0">
                          <a:effectLst/>
                        </a:rPr>
                        <a:t>El empleado debe estar enrolado en el sistema por medio del administrador.</a:t>
                      </a:r>
                      <a:endParaRPr lang="es-CO" sz="9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8533601"/>
                  </a:ext>
                </a:extLst>
              </a:tr>
              <a:tr h="175287">
                <a:tc rowSpan="5">
                  <a:txBody>
                    <a:bodyPr/>
                    <a:lstStyle/>
                    <a:p>
                      <a:pPr marL="41275">
                        <a:lnSpc>
                          <a:spcPts val="925"/>
                        </a:lnSpc>
                      </a:pPr>
                      <a:r>
                        <a:rPr lang="es-CO" sz="800" dirty="0">
                          <a:effectLst/>
                        </a:rPr>
                        <a:t>Secuencia</a:t>
                      </a:r>
                      <a:endParaRPr lang="es-CO" sz="900" dirty="0">
                        <a:effectLst/>
                      </a:endParaRPr>
                    </a:p>
                    <a:p>
                      <a:pPr marL="80645">
                        <a:spcBef>
                          <a:spcPts val="80"/>
                        </a:spcBef>
                        <a:spcAft>
                          <a:spcPts val="0"/>
                        </a:spcAft>
                      </a:pPr>
                      <a:r>
                        <a:rPr lang="es-CO" sz="800" dirty="0">
                          <a:effectLst/>
                        </a:rPr>
                        <a:t>Normal</a:t>
                      </a:r>
                      <a:endParaRPr lang="es-CO" sz="9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845"/>
                        </a:lnSpc>
                      </a:pPr>
                      <a:r>
                        <a:rPr lang="es-CO" sz="700" spc="-20" dirty="0">
                          <a:effectLst/>
                        </a:rPr>
                        <a:t>Paso</a:t>
                      </a:r>
                      <a:endParaRPr lang="es-CO" sz="9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ts val="845"/>
                        </a:lnSpc>
                      </a:pPr>
                      <a:r>
                        <a:rPr lang="es-CO" sz="700" dirty="0">
                          <a:effectLst/>
                        </a:rPr>
                        <a:t>Acción</a:t>
                      </a:r>
                      <a:endParaRPr lang="es-CO" sz="9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715582348"/>
                  </a:ext>
                </a:extLst>
              </a:tr>
              <a:tr h="283496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3355" algn="ctr">
                        <a:lnSpc>
                          <a:spcPct val="250000"/>
                        </a:lnSpc>
                      </a:pPr>
                      <a:r>
                        <a:rPr lang="es-CO" sz="700" dirty="0">
                          <a:effectLst/>
                        </a:rPr>
                        <a:t>1</a:t>
                      </a:r>
                      <a:endParaRPr lang="es-CO" sz="9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42545">
                        <a:spcBef>
                          <a:spcPts val="45"/>
                        </a:spcBef>
                        <a:spcAft>
                          <a:spcPts val="0"/>
                        </a:spcAft>
                      </a:pPr>
                      <a:r>
                        <a:rPr lang="es-CO" sz="800" dirty="0">
                          <a:effectLst/>
                        </a:rPr>
                        <a:t> El empleado debe buscar la sección de gestión de inventarios.</a:t>
                      </a:r>
                      <a:endParaRPr lang="es-CO" sz="900" dirty="0">
                        <a:effectLst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774530266"/>
                  </a:ext>
                </a:extLst>
              </a:tr>
              <a:tr h="315240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30"/>
                        </a:spcBef>
                      </a:pPr>
                      <a:r>
                        <a:rPr lang="es-CO" sz="700" dirty="0">
                          <a:effectLst/>
                        </a:rPr>
                        <a:t> </a:t>
                      </a:r>
                      <a:endParaRPr lang="es-CO" sz="900" dirty="0">
                        <a:effectLst/>
                      </a:endParaRPr>
                    </a:p>
                    <a:p>
                      <a:pPr marL="173355" algn="ctr"/>
                      <a:r>
                        <a:rPr lang="es-CO" sz="700" dirty="0">
                          <a:effectLst/>
                        </a:rPr>
                        <a:t>2</a:t>
                      </a:r>
                      <a:endParaRPr lang="es-CO" sz="9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42545" marR="40640" algn="just">
                        <a:lnSpc>
                          <a:spcPct val="92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s-CO" sz="800" dirty="0">
                          <a:effectLst/>
                        </a:rPr>
                        <a:t>El sistema muestra las opciones: Inventario cíclico, diario, semanal, mensual y anual.</a:t>
                      </a:r>
                      <a:endParaRPr lang="es-CO" sz="9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186590003"/>
                  </a:ext>
                </a:extLst>
              </a:tr>
              <a:tr h="420665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3355" algn="ctr">
                        <a:lnSpc>
                          <a:spcPct val="300000"/>
                        </a:lnSpc>
                      </a:pPr>
                      <a:r>
                        <a:rPr lang="es-CO" sz="700" dirty="0">
                          <a:effectLst/>
                        </a:rPr>
                        <a:t>3</a:t>
                      </a:r>
                      <a:endParaRPr lang="es-CO" sz="9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42545">
                        <a:lnSpc>
                          <a:spcPct val="92000"/>
                        </a:lnSpc>
                        <a:spcBef>
                          <a:spcPts val="130"/>
                        </a:spcBef>
                        <a:spcAft>
                          <a:spcPts val="0"/>
                        </a:spcAft>
                      </a:pPr>
                      <a:r>
                        <a:rPr lang="es-CO" sz="800" dirty="0">
                          <a:effectLst/>
                        </a:rPr>
                        <a:t>El empleado selecciona la opción a necesidad al dar clic y el sistema muestra las opciones de búsqueda: Por fecha o bodega.</a:t>
                      </a:r>
                      <a:endParaRPr lang="es-CO" sz="9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216119899"/>
                  </a:ext>
                </a:extLst>
              </a:tr>
              <a:tr h="370042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45"/>
                        </a:spcBef>
                      </a:pPr>
                      <a:r>
                        <a:rPr lang="es-CO" sz="1000" dirty="0">
                          <a:effectLst/>
                        </a:rPr>
                        <a:t> </a:t>
                      </a:r>
                      <a:endParaRPr lang="es-CO" sz="900" dirty="0">
                        <a:effectLst/>
                      </a:endParaRPr>
                    </a:p>
                    <a:p>
                      <a:pPr marL="173355" algn="ctr">
                        <a:spcBef>
                          <a:spcPts val="5"/>
                        </a:spcBef>
                        <a:spcAft>
                          <a:spcPts val="0"/>
                        </a:spcAft>
                      </a:pPr>
                      <a:r>
                        <a:rPr lang="es-CO" sz="700" dirty="0">
                          <a:effectLst/>
                        </a:rPr>
                        <a:t>4</a:t>
                      </a:r>
                      <a:endParaRPr lang="es-CO" sz="9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42545" marR="32385" algn="just">
                        <a:lnSpc>
                          <a:spcPct val="92000"/>
                        </a:lnSpc>
                        <a:spcBef>
                          <a:spcPts val="265"/>
                        </a:spcBef>
                        <a:spcAft>
                          <a:spcPts val="0"/>
                        </a:spcAft>
                      </a:pPr>
                      <a:r>
                        <a:rPr lang="es-CO" sz="800" dirty="0">
                          <a:effectLst/>
                        </a:rPr>
                        <a:t> El sistema le pide ingresar el dato y automáticamente realiza su búsqueda al dar </a:t>
                      </a:r>
                      <a:r>
                        <a:rPr lang="es-CO" sz="800" dirty="0" err="1">
                          <a:effectLst/>
                        </a:rPr>
                        <a:t>enter</a:t>
                      </a:r>
                      <a:r>
                        <a:rPr lang="es-CO" sz="800" dirty="0">
                          <a:effectLst/>
                        </a:rPr>
                        <a:t>.</a:t>
                      </a:r>
                      <a:endParaRPr lang="es-CO" sz="9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681091914"/>
                  </a:ext>
                </a:extLst>
              </a:tr>
              <a:tr h="271739">
                <a:tc>
                  <a:txBody>
                    <a:bodyPr/>
                    <a:lstStyle/>
                    <a:p>
                      <a:pPr marL="80645">
                        <a:spcBef>
                          <a:spcPts val="80"/>
                        </a:spcBef>
                        <a:spcAft>
                          <a:spcPts val="0"/>
                        </a:spcAft>
                      </a:pPr>
                      <a:endParaRPr lang="es-CO" sz="9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3355" algn="ctr">
                        <a:lnSpc>
                          <a:spcPct val="200000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</a:pPr>
                      <a:r>
                        <a:rPr lang="es-MX" sz="700" dirty="0">
                          <a:effectLst/>
                          <a:latin typeface="+mn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5</a:t>
                      </a:r>
                      <a:endParaRPr lang="es-CO" sz="700" dirty="0">
                        <a:effectLst/>
                        <a:latin typeface="+mn-lt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42545" marR="32385" algn="just">
                        <a:lnSpc>
                          <a:spcPct val="92000"/>
                        </a:lnSpc>
                        <a:spcBef>
                          <a:spcPts val="265"/>
                        </a:spcBef>
                        <a:spcAft>
                          <a:spcPts val="0"/>
                        </a:spcAft>
                      </a:pPr>
                      <a:r>
                        <a:rPr lang="es-MX" sz="800" dirty="0">
                          <a:effectLst/>
                          <a:latin typeface="+mn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El sistema le permite visualizar la información del producto.</a:t>
                      </a:r>
                      <a:endParaRPr lang="es-CO" sz="800" dirty="0">
                        <a:effectLst/>
                        <a:latin typeface="+mn-lt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300312972"/>
                  </a:ext>
                </a:extLst>
              </a:tr>
              <a:tr h="399655">
                <a:tc>
                  <a:txBody>
                    <a:bodyPr/>
                    <a:lstStyle/>
                    <a:p>
                      <a:pPr marL="67310">
                        <a:spcBef>
                          <a:spcPts val="265"/>
                        </a:spcBef>
                        <a:spcAft>
                          <a:spcPts val="0"/>
                        </a:spcAft>
                      </a:pPr>
                      <a:r>
                        <a:rPr lang="es-CO" sz="800">
                          <a:effectLst/>
                        </a:rPr>
                        <a:t>Post Condición</a:t>
                      </a:r>
                      <a:endParaRPr lang="es-CO" sz="9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52705">
                        <a:lnSpc>
                          <a:spcPct val="92000"/>
                        </a:lnSpc>
                        <a:spcBef>
                          <a:spcPts val="15"/>
                        </a:spcBef>
                        <a:spcAft>
                          <a:spcPts val="0"/>
                        </a:spcAft>
                      </a:pPr>
                      <a:r>
                        <a:rPr lang="es-CO" sz="800" dirty="0">
                          <a:effectLst/>
                        </a:rPr>
                        <a:t> </a:t>
                      </a:r>
                      <a:endParaRPr lang="es-CO" sz="900" dirty="0">
                        <a:effectLst/>
                      </a:endParaRPr>
                    </a:p>
                    <a:p>
                      <a:pPr marL="52705">
                        <a:lnSpc>
                          <a:spcPct val="92000"/>
                        </a:lnSpc>
                        <a:spcBef>
                          <a:spcPts val="15"/>
                        </a:spcBef>
                        <a:spcAft>
                          <a:spcPts val="0"/>
                        </a:spcAft>
                      </a:pPr>
                      <a:r>
                        <a:rPr lang="es-CO" sz="800" dirty="0">
                          <a:effectLst/>
                        </a:rPr>
                        <a:t>El empleado interactúa con la información suministrada.</a:t>
                      </a:r>
                      <a:endParaRPr lang="es-CO" sz="9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6203859"/>
                  </a:ext>
                </a:extLst>
              </a:tr>
              <a:tr h="234935">
                <a:tc>
                  <a:txBody>
                    <a:bodyPr/>
                    <a:lstStyle/>
                    <a:p>
                      <a:pPr marL="41275">
                        <a:lnSpc>
                          <a:spcPts val="1025"/>
                        </a:lnSpc>
                      </a:pPr>
                      <a:r>
                        <a:rPr lang="es-CO" sz="800" dirty="0">
                          <a:effectLst/>
                        </a:rPr>
                        <a:t>Excepciones</a:t>
                      </a:r>
                      <a:endParaRPr lang="es-CO" sz="9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945"/>
                        </a:lnSpc>
                      </a:pPr>
                      <a:r>
                        <a:rPr lang="es-CO" sz="700" spc="-20" dirty="0">
                          <a:effectLst/>
                        </a:rPr>
                        <a:t>Paso</a:t>
                      </a:r>
                      <a:endParaRPr lang="es-CO" sz="9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945"/>
                        </a:lnSpc>
                      </a:pPr>
                      <a:r>
                        <a:rPr lang="es-CO" sz="700" dirty="0">
                          <a:effectLst/>
                        </a:rPr>
                        <a:t> </a:t>
                      </a:r>
                      <a:endParaRPr lang="es-CO" sz="9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2581952"/>
                  </a:ext>
                </a:extLst>
              </a:tr>
              <a:tr h="472567">
                <a:tc>
                  <a:txBody>
                    <a:bodyPr/>
                    <a:lstStyle/>
                    <a:p>
                      <a:pPr marL="41275">
                        <a:lnSpc>
                          <a:spcPts val="1025"/>
                        </a:lnSpc>
                      </a:pPr>
                      <a:endParaRPr lang="es-CO" sz="9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68275" algn="ctr">
                        <a:lnSpc>
                          <a:spcPct val="300000"/>
                        </a:lnSpc>
                      </a:pPr>
                      <a:r>
                        <a:rPr lang="es-MX" sz="700" b="0" dirty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1</a:t>
                      </a:r>
                      <a:endParaRPr lang="es-CO" sz="700" b="0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6990" marR="38735" algn="just">
                        <a:lnSpc>
                          <a:spcPct val="150000"/>
                        </a:lnSpc>
                        <a:spcBef>
                          <a:spcPts val="95"/>
                        </a:spcBef>
                        <a:spcAft>
                          <a:spcPts val="0"/>
                        </a:spcAft>
                      </a:pPr>
                      <a:r>
                        <a:rPr lang="es-MX" sz="800" dirty="0">
                          <a:effectLst/>
                          <a:latin typeface="+mn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Si el dato no esta en el sistema mostrara un mensaje de “Dato invalido”</a:t>
                      </a:r>
                      <a:endParaRPr lang="es-CO" sz="800" dirty="0">
                        <a:effectLst/>
                        <a:latin typeface="+mn-lt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631933843"/>
                  </a:ext>
                </a:extLst>
              </a:tr>
            </a:tbl>
          </a:graphicData>
        </a:graphic>
      </p:graphicFrame>
      <p:sp>
        <p:nvSpPr>
          <p:cNvPr id="8" name="CuadroTexto 7">
            <a:extLst>
              <a:ext uri="{FF2B5EF4-FFF2-40B4-BE49-F238E27FC236}">
                <a16:creationId xmlns:a16="http://schemas.microsoft.com/office/drawing/2014/main" id="{58D2A415-1125-4D11-B29F-DF24149623D3}"/>
              </a:ext>
            </a:extLst>
          </p:cNvPr>
          <p:cNvSpPr txBox="1"/>
          <p:nvPr/>
        </p:nvSpPr>
        <p:spPr>
          <a:xfrm>
            <a:off x="4153988" y="73078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altLang="es-CO" sz="1800" b="1" dirty="0">
                <a:solidFill>
                  <a:srgbClr val="FA9930"/>
                </a:solidFill>
                <a:latin typeface="+mn-lt"/>
              </a:rPr>
              <a:t>Módulo gestión</a:t>
            </a:r>
            <a:r>
              <a:rPr lang="es-CO" altLang="es-CO" b="1" dirty="0">
                <a:solidFill>
                  <a:srgbClr val="FA9930"/>
                </a:solidFill>
              </a:rPr>
              <a:t> de inventarios</a:t>
            </a:r>
          </a:p>
          <a:p>
            <a:r>
              <a:rPr lang="es-CO" b="1" dirty="0">
                <a:solidFill>
                  <a:srgbClr val="FA9930"/>
                </a:solidFill>
              </a:rPr>
              <a:t>Parte1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6874409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3273FF93-5667-48C8-806B-CD14A2557A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3513" y="606286"/>
            <a:ext cx="8984974" cy="5645427"/>
          </a:xfrm>
        </p:spPr>
      </p:pic>
    </p:spTree>
    <p:extLst>
      <p:ext uri="{BB962C8B-B14F-4D97-AF65-F5344CB8AC3E}">
        <p14:creationId xmlns:p14="http://schemas.microsoft.com/office/powerpoint/2010/main" val="368937209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0080D459-0DB0-4566-B34E-FD43F61FA3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1684151"/>
              </p:ext>
            </p:extLst>
          </p:nvPr>
        </p:nvGraphicFramePr>
        <p:xfrm>
          <a:off x="2721460" y="1804474"/>
          <a:ext cx="6135937" cy="4142051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755669">
                  <a:extLst>
                    <a:ext uri="{9D8B030D-6E8A-4147-A177-3AD203B41FA5}">
                      <a16:colId xmlns:a16="http://schemas.microsoft.com/office/drawing/2014/main" val="3120827593"/>
                    </a:ext>
                  </a:extLst>
                </a:gridCol>
                <a:gridCol w="2690134">
                  <a:extLst>
                    <a:ext uri="{9D8B030D-6E8A-4147-A177-3AD203B41FA5}">
                      <a16:colId xmlns:a16="http://schemas.microsoft.com/office/drawing/2014/main" val="3560936693"/>
                    </a:ext>
                  </a:extLst>
                </a:gridCol>
                <a:gridCol w="2690134">
                  <a:extLst>
                    <a:ext uri="{9D8B030D-6E8A-4147-A177-3AD203B41FA5}">
                      <a16:colId xmlns:a16="http://schemas.microsoft.com/office/drawing/2014/main" val="3680774726"/>
                    </a:ext>
                  </a:extLst>
                </a:gridCol>
              </a:tblGrid>
              <a:tr h="288220">
                <a:tc>
                  <a:txBody>
                    <a:bodyPr/>
                    <a:lstStyle/>
                    <a:p>
                      <a:pPr marL="34925">
                        <a:lnSpc>
                          <a:spcPts val="965"/>
                        </a:lnSpc>
                      </a:pPr>
                      <a:r>
                        <a:rPr lang="es-CO" sz="800">
                          <a:effectLst/>
                        </a:rPr>
                        <a:t>Casos de Uso</a:t>
                      </a:r>
                      <a:endParaRPr lang="es-CO" sz="9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019175">
                        <a:lnSpc>
                          <a:spcPts val="965"/>
                        </a:lnSpc>
                      </a:pPr>
                      <a:r>
                        <a:rPr lang="es-CO" sz="800" dirty="0">
                          <a:effectLst/>
                        </a:rPr>
                        <a:t>   </a:t>
                      </a:r>
                    </a:p>
                    <a:p>
                      <a:pPr marL="1019175">
                        <a:lnSpc>
                          <a:spcPts val="965"/>
                        </a:lnSpc>
                      </a:pPr>
                      <a:r>
                        <a:rPr lang="es-CO" sz="800" dirty="0">
                          <a:effectLst/>
                        </a:rPr>
                        <a:t>                                  Traslado de productos</a:t>
                      </a:r>
                      <a:endParaRPr lang="es-CO" sz="9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569667"/>
                  </a:ext>
                </a:extLst>
              </a:tr>
              <a:tr h="468018">
                <a:tc>
                  <a:txBody>
                    <a:bodyPr/>
                    <a:lstStyle/>
                    <a:p>
                      <a:pPr marL="9525">
                        <a:spcBef>
                          <a:spcPts val="105"/>
                        </a:spcBef>
                        <a:spcAft>
                          <a:spcPts val="0"/>
                        </a:spcAft>
                      </a:pPr>
                      <a:endParaRPr lang="es-CO" sz="800" dirty="0">
                        <a:effectLst/>
                      </a:endParaRPr>
                    </a:p>
                    <a:p>
                      <a:pPr marL="9525">
                        <a:spcBef>
                          <a:spcPts val="105"/>
                        </a:spcBef>
                        <a:spcAft>
                          <a:spcPts val="0"/>
                        </a:spcAft>
                      </a:pPr>
                      <a:r>
                        <a:rPr lang="es-CO" sz="800" dirty="0">
                          <a:effectLst/>
                        </a:rPr>
                        <a:t>Descripción</a:t>
                      </a:r>
                      <a:endParaRPr lang="es-CO" sz="9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69215" marR="60325" algn="just">
                        <a:lnSpc>
                          <a:spcPct val="90000"/>
                        </a:lnSpc>
                        <a:spcBef>
                          <a:spcPts val="185"/>
                        </a:spcBef>
                        <a:spcAft>
                          <a:spcPts val="0"/>
                        </a:spcAft>
                      </a:pPr>
                      <a:endParaRPr lang="es-CO" sz="800" dirty="0">
                        <a:effectLst/>
                      </a:endParaRPr>
                    </a:p>
                    <a:p>
                      <a:pPr marL="69215" marR="60325" algn="just">
                        <a:lnSpc>
                          <a:spcPct val="90000"/>
                        </a:lnSpc>
                        <a:spcBef>
                          <a:spcPts val="185"/>
                        </a:spcBef>
                        <a:spcAft>
                          <a:spcPts val="0"/>
                        </a:spcAft>
                      </a:pPr>
                      <a:r>
                        <a:rPr lang="es-CO" sz="800" dirty="0">
                          <a:effectLst/>
                        </a:rPr>
                        <a:t>El sistema debe permitir al empleado la </a:t>
                      </a:r>
                      <a:r>
                        <a:rPr lang="es-CO" sz="800" u="sng" dirty="0">
                          <a:effectLst/>
                        </a:rPr>
                        <a:t>entrada</a:t>
                      </a:r>
                      <a:r>
                        <a:rPr lang="es-CO" sz="800" dirty="0">
                          <a:effectLst/>
                        </a:rPr>
                        <a:t> de los productos.</a:t>
                      </a: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6538039"/>
                  </a:ext>
                </a:extLst>
              </a:tr>
              <a:tr h="375116">
                <a:tc>
                  <a:txBody>
                    <a:bodyPr/>
                    <a:lstStyle/>
                    <a:p>
                      <a:pPr>
                        <a:spcBef>
                          <a:spcPts val="565"/>
                        </a:spcBef>
                        <a:spcAft>
                          <a:spcPts val="0"/>
                        </a:spcAft>
                      </a:pPr>
                      <a:r>
                        <a:rPr lang="es-CO" sz="800">
                          <a:effectLst/>
                        </a:rPr>
                        <a:t>Precondición</a:t>
                      </a:r>
                      <a:endParaRPr lang="es-CO" sz="9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69215" marR="2540">
                        <a:lnSpc>
                          <a:spcPct val="90000"/>
                        </a:lnSpc>
                        <a:spcBef>
                          <a:spcPts val="255"/>
                        </a:spcBef>
                        <a:spcAft>
                          <a:spcPts val="0"/>
                        </a:spcAft>
                      </a:pPr>
                      <a:r>
                        <a:rPr lang="es-CO" sz="800" dirty="0">
                          <a:effectLst/>
                        </a:rPr>
                        <a:t>El empleado debe estar enrolado en el sistema por medio del administrador.</a:t>
                      </a:r>
                      <a:endParaRPr lang="es-CO" sz="9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8533601"/>
                  </a:ext>
                </a:extLst>
              </a:tr>
              <a:tr h="175287">
                <a:tc rowSpan="5">
                  <a:txBody>
                    <a:bodyPr/>
                    <a:lstStyle/>
                    <a:p>
                      <a:pPr marL="41275">
                        <a:lnSpc>
                          <a:spcPts val="925"/>
                        </a:lnSpc>
                      </a:pPr>
                      <a:r>
                        <a:rPr lang="es-CO" sz="800" dirty="0">
                          <a:effectLst/>
                        </a:rPr>
                        <a:t>Secuencia</a:t>
                      </a:r>
                      <a:endParaRPr lang="es-CO" sz="900" dirty="0">
                        <a:effectLst/>
                      </a:endParaRPr>
                    </a:p>
                    <a:p>
                      <a:pPr marL="80645">
                        <a:spcBef>
                          <a:spcPts val="80"/>
                        </a:spcBef>
                        <a:spcAft>
                          <a:spcPts val="0"/>
                        </a:spcAft>
                      </a:pPr>
                      <a:r>
                        <a:rPr lang="es-CO" sz="800" dirty="0">
                          <a:effectLst/>
                        </a:rPr>
                        <a:t>Normal</a:t>
                      </a:r>
                      <a:endParaRPr lang="es-CO" sz="9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845"/>
                        </a:lnSpc>
                      </a:pPr>
                      <a:r>
                        <a:rPr lang="es-CO" sz="700" spc="-20" dirty="0">
                          <a:effectLst/>
                        </a:rPr>
                        <a:t>Paso</a:t>
                      </a:r>
                      <a:endParaRPr lang="es-CO" sz="9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ts val="845"/>
                        </a:lnSpc>
                      </a:pPr>
                      <a:r>
                        <a:rPr lang="es-CO" sz="700" dirty="0">
                          <a:effectLst/>
                        </a:rPr>
                        <a:t>Acción</a:t>
                      </a:r>
                      <a:endParaRPr lang="es-CO" sz="9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715582348"/>
                  </a:ext>
                </a:extLst>
              </a:tr>
              <a:tr h="283496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3355" algn="ctr">
                        <a:lnSpc>
                          <a:spcPts val="960"/>
                        </a:lnSpc>
                      </a:pPr>
                      <a:r>
                        <a:rPr lang="es-CO" sz="700" dirty="0">
                          <a:effectLst/>
                        </a:rPr>
                        <a:t>1</a:t>
                      </a:r>
                      <a:endParaRPr lang="es-CO" sz="9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42545">
                        <a:spcBef>
                          <a:spcPts val="45"/>
                        </a:spcBef>
                        <a:spcAft>
                          <a:spcPts val="0"/>
                        </a:spcAft>
                      </a:pPr>
                      <a:r>
                        <a:rPr lang="es-CO" sz="800" dirty="0">
                          <a:effectLst/>
                        </a:rPr>
                        <a:t> El empleado debe dirigirse al modulo de gestión, seleccionar tipo de inventario ”Cíclico, diario, semanal, mensual o anual”.</a:t>
                      </a:r>
                      <a:endParaRPr lang="es-CO" sz="900" dirty="0">
                        <a:effectLst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774530266"/>
                  </a:ext>
                </a:extLst>
              </a:tr>
              <a:tr h="315240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30"/>
                        </a:spcBef>
                      </a:pPr>
                      <a:r>
                        <a:rPr lang="es-CO" sz="700" dirty="0">
                          <a:effectLst/>
                        </a:rPr>
                        <a:t> </a:t>
                      </a:r>
                      <a:endParaRPr lang="es-CO" sz="900" dirty="0">
                        <a:effectLst/>
                      </a:endParaRPr>
                    </a:p>
                    <a:p>
                      <a:pPr marL="173355" algn="ctr"/>
                      <a:r>
                        <a:rPr lang="es-CO" sz="700" dirty="0">
                          <a:effectLst/>
                        </a:rPr>
                        <a:t>2</a:t>
                      </a:r>
                      <a:endParaRPr lang="es-CO" sz="9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42545" marR="40640" algn="just">
                        <a:lnSpc>
                          <a:spcPct val="92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s-MX" sz="800" b="1" dirty="0">
                          <a:effectLst/>
                          <a:latin typeface="+mn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El empleado después de su selección, el sistema le mostrara una opción llamada “transacciones de inventario” dar clic.</a:t>
                      </a:r>
                      <a:endParaRPr lang="es-CO" sz="800" b="1" dirty="0">
                        <a:effectLst/>
                        <a:latin typeface="+mn-lt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186590003"/>
                  </a:ext>
                </a:extLst>
              </a:tr>
              <a:tr h="233359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3355" algn="ctr">
                        <a:lnSpc>
                          <a:spcPts val="1075"/>
                        </a:lnSpc>
                      </a:pPr>
                      <a:r>
                        <a:rPr lang="es-CO" sz="700" dirty="0">
                          <a:effectLst/>
                        </a:rPr>
                        <a:t>3</a:t>
                      </a:r>
                      <a:endParaRPr lang="es-CO" sz="9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42545">
                        <a:lnSpc>
                          <a:spcPct val="92000"/>
                        </a:lnSpc>
                        <a:spcBef>
                          <a:spcPts val="130"/>
                        </a:spcBef>
                        <a:spcAft>
                          <a:spcPts val="0"/>
                        </a:spcAft>
                      </a:pPr>
                      <a:r>
                        <a:rPr lang="es-MX" sz="800" dirty="0">
                          <a:effectLst/>
                          <a:latin typeface="+mn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El sistema le mostrara la opción “traslado” dar clic.</a:t>
                      </a:r>
                      <a:endParaRPr lang="es-CO" sz="800" dirty="0">
                        <a:effectLst/>
                        <a:latin typeface="+mn-lt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216119899"/>
                  </a:ext>
                </a:extLst>
              </a:tr>
              <a:tr h="246669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45"/>
                        </a:spcBef>
                      </a:pPr>
                      <a:r>
                        <a:rPr lang="es-CO" sz="1000" dirty="0">
                          <a:effectLst/>
                        </a:rPr>
                        <a:t> </a:t>
                      </a:r>
                      <a:endParaRPr lang="es-CO" sz="900" dirty="0">
                        <a:effectLst/>
                      </a:endParaRPr>
                    </a:p>
                    <a:p>
                      <a:pPr marL="173355" algn="ctr">
                        <a:spcBef>
                          <a:spcPts val="5"/>
                        </a:spcBef>
                        <a:spcAft>
                          <a:spcPts val="0"/>
                        </a:spcAft>
                      </a:pPr>
                      <a:r>
                        <a:rPr lang="es-CO" sz="700" dirty="0">
                          <a:effectLst/>
                        </a:rPr>
                        <a:t>4</a:t>
                      </a:r>
                      <a:endParaRPr lang="es-CO" sz="9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42545" marR="32385" algn="just">
                        <a:lnSpc>
                          <a:spcPct val="92000"/>
                        </a:lnSpc>
                        <a:spcBef>
                          <a:spcPts val="265"/>
                        </a:spcBef>
                        <a:spcAft>
                          <a:spcPts val="0"/>
                        </a:spcAft>
                      </a:pPr>
                      <a:r>
                        <a:rPr lang="es-CO" sz="800" dirty="0">
                          <a:effectLst/>
                        </a:rPr>
                        <a:t> El sistema le mostrara un rango para autocompletar la referencia, fecha y cantidad a ingresar.</a:t>
                      </a:r>
                      <a:endParaRPr lang="es-CO" sz="9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681091914"/>
                  </a:ext>
                </a:extLst>
              </a:tr>
              <a:tr h="290212">
                <a:tc>
                  <a:txBody>
                    <a:bodyPr/>
                    <a:lstStyle/>
                    <a:p>
                      <a:pPr marL="80645">
                        <a:spcBef>
                          <a:spcPts val="80"/>
                        </a:spcBef>
                        <a:spcAft>
                          <a:spcPts val="0"/>
                        </a:spcAft>
                      </a:pPr>
                      <a:endParaRPr lang="es-CO" sz="9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3355" algn="ctr">
                        <a:lnSpc>
                          <a:spcPct val="200000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</a:pPr>
                      <a:r>
                        <a:rPr lang="es-MX" sz="700" b="0" dirty="0">
                          <a:effectLst/>
                          <a:latin typeface="+mn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5</a:t>
                      </a:r>
                      <a:endParaRPr lang="es-CO" sz="700" b="0" dirty="0">
                        <a:effectLst/>
                        <a:latin typeface="+mn-lt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42545" marR="32385" algn="just">
                        <a:lnSpc>
                          <a:spcPct val="92000"/>
                        </a:lnSpc>
                        <a:spcBef>
                          <a:spcPts val="265"/>
                        </a:spcBef>
                        <a:spcAft>
                          <a:spcPts val="0"/>
                        </a:spcAft>
                      </a:pPr>
                      <a:r>
                        <a:rPr lang="es-MX" sz="800" dirty="0">
                          <a:effectLst/>
                          <a:latin typeface="+mn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Luego de ingresar los datos, debe dar clic en guardar.</a:t>
                      </a:r>
                      <a:endParaRPr lang="es-CO" sz="800" dirty="0">
                        <a:effectLst/>
                        <a:latin typeface="+mn-lt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071792732"/>
                  </a:ext>
                </a:extLst>
              </a:tr>
              <a:tr h="290212">
                <a:tc>
                  <a:txBody>
                    <a:bodyPr/>
                    <a:lstStyle/>
                    <a:p>
                      <a:pPr marL="80645">
                        <a:spcBef>
                          <a:spcPts val="80"/>
                        </a:spcBef>
                        <a:spcAft>
                          <a:spcPts val="0"/>
                        </a:spcAft>
                      </a:pPr>
                      <a:endParaRPr lang="es-CO" sz="9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3355" algn="ctr">
                        <a:lnSpc>
                          <a:spcPct val="200000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</a:pPr>
                      <a:r>
                        <a:rPr lang="es-MX" sz="700" b="0" dirty="0">
                          <a:effectLst/>
                          <a:latin typeface="+mn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6</a:t>
                      </a:r>
                      <a:endParaRPr lang="es-CO" sz="700" b="0" dirty="0">
                        <a:effectLst/>
                        <a:latin typeface="+mn-lt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42545" marR="32385" algn="just">
                        <a:lnSpc>
                          <a:spcPct val="92000"/>
                        </a:lnSpc>
                        <a:spcBef>
                          <a:spcPts val="265"/>
                        </a:spcBef>
                        <a:spcAft>
                          <a:spcPts val="0"/>
                        </a:spcAft>
                      </a:pPr>
                      <a:r>
                        <a:rPr lang="es-MX" sz="800" dirty="0">
                          <a:effectLst/>
                          <a:latin typeface="+mn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Si el empleado desea imprimir la transacción, dar </a:t>
                      </a:r>
                      <a:r>
                        <a:rPr lang="es-MX" sz="800" dirty="0" err="1">
                          <a:effectLst/>
                          <a:latin typeface="+mn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click</a:t>
                      </a:r>
                      <a:r>
                        <a:rPr lang="es-MX" sz="800" dirty="0">
                          <a:effectLst/>
                          <a:latin typeface="+mn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en informe</a:t>
                      </a:r>
                      <a:endParaRPr lang="es-CO" sz="800" dirty="0">
                        <a:effectLst/>
                        <a:latin typeface="+mn-lt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84878828"/>
                  </a:ext>
                </a:extLst>
              </a:tr>
              <a:tr h="399655">
                <a:tc>
                  <a:txBody>
                    <a:bodyPr/>
                    <a:lstStyle/>
                    <a:p>
                      <a:pPr marL="67310">
                        <a:spcBef>
                          <a:spcPts val="265"/>
                        </a:spcBef>
                        <a:spcAft>
                          <a:spcPts val="0"/>
                        </a:spcAft>
                      </a:pPr>
                      <a:r>
                        <a:rPr lang="es-CO" sz="800">
                          <a:effectLst/>
                        </a:rPr>
                        <a:t>Post Condición</a:t>
                      </a:r>
                      <a:endParaRPr lang="es-CO" sz="9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52705">
                        <a:lnSpc>
                          <a:spcPct val="92000"/>
                        </a:lnSpc>
                        <a:spcBef>
                          <a:spcPts val="15"/>
                        </a:spcBef>
                        <a:spcAft>
                          <a:spcPts val="0"/>
                        </a:spcAft>
                      </a:pPr>
                      <a:r>
                        <a:rPr lang="es-CO" sz="800" dirty="0">
                          <a:effectLst/>
                        </a:rPr>
                        <a:t> </a:t>
                      </a:r>
                      <a:endParaRPr lang="es-CO" sz="900" dirty="0">
                        <a:effectLst/>
                      </a:endParaRPr>
                    </a:p>
                    <a:p>
                      <a:pPr marL="52705">
                        <a:lnSpc>
                          <a:spcPct val="92000"/>
                        </a:lnSpc>
                        <a:spcBef>
                          <a:spcPts val="15"/>
                        </a:spcBef>
                        <a:spcAft>
                          <a:spcPts val="0"/>
                        </a:spcAft>
                      </a:pPr>
                      <a:r>
                        <a:rPr lang="es-CO" sz="800" dirty="0">
                          <a:effectLst/>
                        </a:rPr>
                        <a:t>El empleado ingresa nuevas cantidades de productos</a:t>
                      </a:r>
                      <a:endParaRPr lang="es-CO" sz="9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6203859"/>
                  </a:ext>
                </a:extLst>
              </a:tr>
              <a:tr h="188142">
                <a:tc rowSpan="2">
                  <a:txBody>
                    <a:bodyPr/>
                    <a:lstStyle/>
                    <a:p>
                      <a:pPr marL="41275">
                        <a:lnSpc>
                          <a:spcPts val="1025"/>
                        </a:lnSpc>
                      </a:pPr>
                      <a:r>
                        <a:rPr lang="es-CO" sz="800" dirty="0">
                          <a:effectLst/>
                        </a:rPr>
                        <a:t>Excepciones</a:t>
                      </a:r>
                      <a:endParaRPr lang="es-CO" sz="9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945"/>
                        </a:lnSpc>
                      </a:pPr>
                      <a:r>
                        <a:rPr lang="es-CO" sz="700" spc="-20" dirty="0">
                          <a:effectLst/>
                        </a:rPr>
                        <a:t>Paso</a:t>
                      </a:r>
                      <a:endParaRPr lang="es-CO" sz="9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945"/>
                        </a:lnSpc>
                      </a:pPr>
                      <a:r>
                        <a:rPr lang="es-CO" sz="700" dirty="0">
                          <a:effectLst/>
                        </a:rPr>
                        <a:t> </a:t>
                      </a:r>
                      <a:endParaRPr lang="es-CO" sz="9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2581952"/>
                  </a:ext>
                </a:extLst>
              </a:tr>
              <a:tr h="472567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60"/>
                        </a:spcBef>
                      </a:pPr>
                      <a:r>
                        <a:rPr lang="es-CO" sz="1100" dirty="0">
                          <a:effectLst/>
                        </a:rPr>
                        <a:t> </a:t>
                      </a:r>
                      <a:endParaRPr lang="es-CO" sz="900" dirty="0">
                        <a:effectLst/>
                      </a:endParaRPr>
                    </a:p>
                    <a:p>
                      <a:pPr marL="168275" algn="ctr"/>
                      <a:r>
                        <a:rPr lang="es-CO" sz="7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5</a:t>
                      </a:r>
                      <a:endParaRPr lang="es-CO" sz="9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46990" marR="38735" algn="just">
                        <a:lnSpc>
                          <a:spcPct val="106000"/>
                        </a:lnSpc>
                        <a:spcBef>
                          <a:spcPts val="95"/>
                        </a:spcBef>
                        <a:spcAft>
                          <a:spcPts val="0"/>
                        </a:spcAft>
                      </a:pPr>
                      <a:r>
                        <a:rPr lang="es-CO" sz="800" dirty="0">
                          <a:effectLst/>
                        </a:rPr>
                        <a:t> Si el dato no ha sido ingresado mostrara un mensaje de “Ingrese todos los datos”</a:t>
                      </a:r>
                      <a:endParaRPr lang="es-CO" sz="900" dirty="0">
                        <a:effectLst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095002290"/>
                  </a:ext>
                </a:extLst>
              </a:tr>
            </a:tbl>
          </a:graphicData>
        </a:graphic>
      </p:graphicFrame>
      <p:sp>
        <p:nvSpPr>
          <p:cNvPr id="8" name="CuadroTexto 7">
            <a:extLst>
              <a:ext uri="{FF2B5EF4-FFF2-40B4-BE49-F238E27FC236}">
                <a16:creationId xmlns:a16="http://schemas.microsoft.com/office/drawing/2014/main" id="{58D2A415-1125-4D11-B29F-DF24149623D3}"/>
              </a:ext>
            </a:extLst>
          </p:cNvPr>
          <p:cNvSpPr txBox="1"/>
          <p:nvPr/>
        </p:nvSpPr>
        <p:spPr>
          <a:xfrm>
            <a:off x="3492137" y="776955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altLang="es-CO" sz="1800" b="1" dirty="0">
                <a:solidFill>
                  <a:srgbClr val="FA9930"/>
                </a:solidFill>
                <a:latin typeface="+mn-lt"/>
              </a:rPr>
              <a:t>Módulo gestión</a:t>
            </a:r>
            <a:r>
              <a:rPr lang="es-CO" altLang="es-CO" b="1" dirty="0">
                <a:solidFill>
                  <a:srgbClr val="FA9930"/>
                </a:solidFill>
              </a:rPr>
              <a:t> de inventarios </a:t>
            </a:r>
          </a:p>
          <a:p>
            <a:r>
              <a:rPr lang="es-CO" b="1" dirty="0">
                <a:solidFill>
                  <a:srgbClr val="FA9930"/>
                </a:solidFill>
              </a:rPr>
              <a:t>Parte2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06119558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05DC04C1-CA42-4B4E-8184-D272BEE11D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6416" y="779428"/>
            <a:ext cx="8505480" cy="5299144"/>
          </a:xfrm>
        </p:spPr>
      </p:pic>
    </p:spTree>
    <p:extLst>
      <p:ext uri="{BB962C8B-B14F-4D97-AF65-F5344CB8AC3E}">
        <p14:creationId xmlns:p14="http://schemas.microsoft.com/office/powerpoint/2010/main" val="30395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0080D459-0DB0-4566-B34E-FD43F61FA3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7675907"/>
              </p:ext>
            </p:extLst>
          </p:nvPr>
        </p:nvGraphicFramePr>
        <p:xfrm>
          <a:off x="2721460" y="1804474"/>
          <a:ext cx="6135937" cy="4614618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755669">
                  <a:extLst>
                    <a:ext uri="{9D8B030D-6E8A-4147-A177-3AD203B41FA5}">
                      <a16:colId xmlns:a16="http://schemas.microsoft.com/office/drawing/2014/main" val="3120827593"/>
                    </a:ext>
                  </a:extLst>
                </a:gridCol>
                <a:gridCol w="2690134">
                  <a:extLst>
                    <a:ext uri="{9D8B030D-6E8A-4147-A177-3AD203B41FA5}">
                      <a16:colId xmlns:a16="http://schemas.microsoft.com/office/drawing/2014/main" val="3560936693"/>
                    </a:ext>
                  </a:extLst>
                </a:gridCol>
                <a:gridCol w="2690134">
                  <a:extLst>
                    <a:ext uri="{9D8B030D-6E8A-4147-A177-3AD203B41FA5}">
                      <a16:colId xmlns:a16="http://schemas.microsoft.com/office/drawing/2014/main" val="3680774726"/>
                    </a:ext>
                  </a:extLst>
                </a:gridCol>
              </a:tblGrid>
              <a:tr h="288220">
                <a:tc>
                  <a:txBody>
                    <a:bodyPr/>
                    <a:lstStyle/>
                    <a:p>
                      <a:pPr marL="34925">
                        <a:lnSpc>
                          <a:spcPts val="965"/>
                        </a:lnSpc>
                      </a:pPr>
                      <a:r>
                        <a:rPr lang="es-CO" sz="800">
                          <a:effectLst/>
                        </a:rPr>
                        <a:t>Casos de Uso</a:t>
                      </a:r>
                      <a:endParaRPr lang="es-CO" sz="9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019175">
                        <a:lnSpc>
                          <a:spcPts val="965"/>
                        </a:lnSpc>
                      </a:pPr>
                      <a:r>
                        <a:rPr lang="es-CO" sz="800" dirty="0">
                          <a:effectLst/>
                        </a:rPr>
                        <a:t>   </a:t>
                      </a:r>
                    </a:p>
                    <a:p>
                      <a:pPr marL="1019175">
                        <a:lnSpc>
                          <a:spcPts val="965"/>
                        </a:lnSpc>
                      </a:pPr>
                      <a:r>
                        <a:rPr lang="es-CO" sz="800" dirty="0">
                          <a:effectLst/>
                        </a:rPr>
                        <a:t>                                  Salida de productos</a:t>
                      </a:r>
                      <a:endParaRPr lang="es-CO" sz="9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569667"/>
                  </a:ext>
                </a:extLst>
              </a:tr>
              <a:tr h="468018">
                <a:tc>
                  <a:txBody>
                    <a:bodyPr/>
                    <a:lstStyle/>
                    <a:p>
                      <a:pPr marL="9525">
                        <a:spcBef>
                          <a:spcPts val="105"/>
                        </a:spcBef>
                        <a:spcAft>
                          <a:spcPts val="0"/>
                        </a:spcAft>
                      </a:pPr>
                      <a:endParaRPr lang="es-CO" sz="800" dirty="0">
                        <a:effectLst/>
                      </a:endParaRPr>
                    </a:p>
                    <a:p>
                      <a:pPr marL="9525">
                        <a:spcBef>
                          <a:spcPts val="105"/>
                        </a:spcBef>
                        <a:spcAft>
                          <a:spcPts val="0"/>
                        </a:spcAft>
                      </a:pPr>
                      <a:r>
                        <a:rPr lang="es-CO" sz="800" dirty="0">
                          <a:effectLst/>
                        </a:rPr>
                        <a:t>Descripción</a:t>
                      </a:r>
                      <a:endParaRPr lang="es-CO" sz="9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69215" marR="60325" algn="just">
                        <a:lnSpc>
                          <a:spcPct val="90000"/>
                        </a:lnSpc>
                        <a:spcBef>
                          <a:spcPts val="185"/>
                        </a:spcBef>
                        <a:spcAft>
                          <a:spcPts val="0"/>
                        </a:spcAft>
                      </a:pPr>
                      <a:endParaRPr lang="es-CO" sz="800" dirty="0">
                        <a:effectLst/>
                      </a:endParaRPr>
                    </a:p>
                    <a:p>
                      <a:pPr marL="69215" marR="60325" algn="just">
                        <a:lnSpc>
                          <a:spcPct val="90000"/>
                        </a:lnSpc>
                        <a:spcBef>
                          <a:spcPts val="185"/>
                        </a:spcBef>
                        <a:spcAft>
                          <a:spcPts val="0"/>
                        </a:spcAft>
                      </a:pPr>
                      <a:r>
                        <a:rPr lang="es-CO" sz="800" dirty="0">
                          <a:effectLst/>
                        </a:rPr>
                        <a:t>El sistema debe permitir al empleado la </a:t>
                      </a:r>
                      <a:r>
                        <a:rPr lang="es-CO" sz="800" u="sng" dirty="0">
                          <a:effectLst/>
                        </a:rPr>
                        <a:t>salida</a:t>
                      </a:r>
                      <a:r>
                        <a:rPr lang="es-CO" sz="800" dirty="0">
                          <a:effectLst/>
                        </a:rPr>
                        <a:t> de los productos.</a:t>
                      </a: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6538039"/>
                  </a:ext>
                </a:extLst>
              </a:tr>
              <a:tr h="375116">
                <a:tc>
                  <a:txBody>
                    <a:bodyPr/>
                    <a:lstStyle/>
                    <a:p>
                      <a:pPr>
                        <a:spcBef>
                          <a:spcPts val="565"/>
                        </a:spcBef>
                        <a:spcAft>
                          <a:spcPts val="0"/>
                        </a:spcAft>
                      </a:pPr>
                      <a:r>
                        <a:rPr lang="es-CO" sz="800">
                          <a:effectLst/>
                        </a:rPr>
                        <a:t>Precondición</a:t>
                      </a:r>
                      <a:endParaRPr lang="es-CO" sz="9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69215" marR="2540">
                        <a:lnSpc>
                          <a:spcPct val="90000"/>
                        </a:lnSpc>
                        <a:spcBef>
                          <a:spcPts val="255"/>
                        </a:spcBef>
                        <a:spcAft>
                          <a:spcPts val="0"/>
                        </a:spcAft>
                      </a:pPr>
                      <a:r>
                        <a:rPr lang="es-CO" sz="800" dirty="0">
                          <a:effectLst/>
                        </a:rPr>
                        <a:t>El empleado debe estar enrolado en el sistema por medio del administrador.</a:t>
                      </a:r>
                      <a:endParaRPr lang="es-CO" sz="9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8533601"/>
                  </a:ext>
                </a:extLst>
              </a:tr>
              <a:tr h="175287">
                <a:tc rowSpan="5">
                  <a:txBody>
                    <a:bodyPr/>
                    <a:lstStyle/>
                    <a:p>
                      <a:pPr marL="41275">
                        <a:lnSpc>
                          <a:spcPts val="925"/>
                        </a:lnSpc>
                      </a:pPr>
                      <a:r>
                        <a:rPr lang="es-CO" sz="800" dirty="0">
                          <a:effectLst/>
                        </a:rPr>
                        <a:t>Secuencia</a:t>
                      </a:r>
                      <a:endParaRPr lang="es-CO" sz="900" dirty="0">
                        <a:effectLst/>
                      </a:endParaRPr>
                    </a:p>
                    <a:p>
                      <a:pPr marL="80645">
                        <a:spcBef>
                          <a:spcPts val="80"/>
                        </a:spcBef>
                        <a:spcAft>
                          <a:spcPts val="0"/>
                        </a:spcAft>
                      </a:pPr>
                      <a:r>
                        <a:rPr lang="es-CO" sz="800" dirty="0">
                          <a:effectLst/>
                        </a:rPr>
                        <a:t>Normal</a:t>
                      </a:r>
                      <a:endParaRPr lang="es-CO" sz="9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845"/>
                        </a:lnSpc>
                      </a:pPr>
                      <a:r>
                        <a:rPr lang="es-CO" sz="700" spc="-20" dirty="0">
                          <a:effectLst/>
                        </a:rPr>
                        <a:t>Paso</a:t>
                      </a:r>
                      <a:endParaRPr lang="es-CO" sz="9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63500">
                        <a:lnSpc>
                          <a:spcPts val="845"/>
                        </a:lnSpc>
                      </a:pPr>
                      <a:r>
                        <a:rPr lang="es-CO" sz="700" dirty="0">
                          <a:effectLst/>
                        </a:rPr>
                        <a:t>Acción</a:t>
                      </a:r>
                      <a:endParaRPr lang="es-CO" sz="9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715582348"/>
                  </a:ext>
                </a:extLst>
              </a:tr>
              <a:tr h="283496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3355" algn="ctr">
                        <a:lnSpc>
                          <a:spcPts val="960"/>
                        </a:lnSpc>
                      </a:pPr>
                      <a:r>
                        <a:rPr lang="es-CO" sz="700" dirty="0">
                          <a:effectLst/>
                        </a:rPr>
                        <a:t>1</a:t>
                      </a:r>
                      <a:endParaRPr lang="es-CO" sz="9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42545">
                        <a:spcBef>
                          <a:spcPts val="45"/>
                        </a:spcBef>
                        <a:spcAft>
                          <a:spcPts val="0"/>
                        </a:spcAft>
                      </a:pPr>
                      <a:r>
                        <a:rPr lang="es-CO" sz="800" dirty="0">
                          <a:effectLst/>
                        </a:rPr>
                        <a:t> El empleado debe dirigirse al modulo de gestión, seleccionar tipo de inventario ”Cíclico, diario, semanal, mensual o anual”.</a:t>
                      </a:r>
                      <a:endParaRPr lang="es-CO" sz="900" dirty="0">
                        <a:effectLst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774530266"/>
                  </a:ext>
                </a:extLst>
              </a:tr>
              <a:tr h="315240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30"/>
                        </a:spcBef>
                      </a:pPr>
                      <a:r>
                        <a:rPr lang="es-CO" sz="700" dirty="0">
                          <a:effectLst/>
                        </a:rPr>
                        <a:t> </a:t>
                      </a:r>
                      <a:endParaRPr lang="es-CO" sz="900" dirty="0">
                        <a:effectLst/>
                      </a:endParaRPr>
                    </a:p>
                    <a:p>
                      <a:pPr marL="173355" algn="ctr"/>
                      <a:r>
                        <a:rPr lang="es-CO" sz="700" dirty="0">
                          <a:effectLst/>
                        </a:rPr>
                        <a:t>2</a:t>
                      </a:r>
                      <a:endParaRPr lang="es-CO" sz="9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42545" marR="40640" algn="just">
                        <a:lnSpc>
                          <a:spcPct val="92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s-MX" sz="800" b="1" dirty="0">
                          <a:effectLst/>
                          <a:latin typeface="+mn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El empleado después de su selección, el sistema le mostrara una opción llamada “transacciones de inventario” dar clic.</a:t>
                      </a:r>
                      <a:endParaRPr lang="es-CO" sz="800" b="1" dirty="0">
                        <a:effectLst/>
                        <a:latin typeface="+mn-lt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186590003"/>
                  </a:ext>
                </a:extLst>
              </a:tr>
              <a:tr h="233359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3355" algn="ctr">
                        <a:lnSpc>
                          <a:spcPts val="1075"/>
                        </a:lnSpc>
                      </a:pPr>
                      <a:r>
                        <a:rPr lang="es-CO" sz="700" dirty="0">
                          <a:effectLst/>
                        </a:rPr>
                        <a:t>3</a:t>
                      </a:r>
                      <a:endParaRPr lang="es-CO" sz="9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42545">
                        <a:lnSpc>
                          <a:spcPct val="92000"/>
                        </a:lnSpc>
                        <a:spcBef>
                          <a:spcPts val="130"/>
                        </a:spcBef>
                        <a:spcAft>
                          <a:spcPts val="0"/>
                        </a:spcAft>
                      </a:pPr>
                      <a:r>
                        <a:rPr lang="es-MX" sz="800" dirty="0">
                          <a:effectLst/>
                          <a:latin typeface="+mn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El sistema le mostrara la opción “salida” dar clic.</a:t>
                      </a:r>
                      <a:endParaRPr lang="es-CO" sz="800" dirty="0">
                        <a:effectLst/>
                        <a:latin typeface="+mn-lt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216119899"/>
                  </a:ext>
                </a:extLst>
              </a:tr>
              <a:tr h="246669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45"/>
                        </a:spcBef>
                      </a:pPr>
                      <a:r>
                        <a:rPr lang="es-CO" sz="1000" dirty="0">
                          <a:effectLst/>
                        </a:rPr>
                        <a:t> </a:t>
                      </a:r>
                      <a:endParaRPr lang="es-CO" sz="900" dirty="0">
                        <a:effectLst/>
                      </a:endParaRPr>
                    </a:p>
                    <a:p>
                      <a:pPr marL="173355" algn="ctr">
                        <a:spcBef>
                          <a:spcPts val="5"/>
                        </a:spcBef>
                        <a:spcAft>
                          <a:spcPts val="0"/>
                        </a:spcAft>
                      </a:pPr>
                      <a:r>
                        <a:rPr lang="es-CO" sz="700" dirty="0">
                          <a:effectLst/>
                        </a:rPr>
                        <a:t>4</a:t>
                      </a:r>
                      <a:endParaRPr lang="es-CO" sz="9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42545" marR="32385" algn="just">
                        <a:lnSpc>
                          <a:spcPct val="92000"/>
                        </a:lnSpc>
                        <a:spcBef>
                          <a:spcPts val="265"/>
                        </a:spcBef>
                        <a:spcAft>
                          <a:spcPts val="0"/>
                        </a:spcAft>
                      </a:pPr>
                      <a:r>
                        <a:rPr lang="es-CO" sz="800" dirty="0">
                          <a:effectLst/>
                        </a:rPr>
                        <a:t> El sistema le mostrara un rango para autocompletar la referencia, fecha y cantidad.</a:t>
                      </a:r>
                      <a:endParaRPr lang="es-CO" sz="9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681091914"/>
                  </a:ext>
                </a:extLst>
              </a:tr>
              <a:tr h="290212">
                <a:tc>
                  <a:txBody>
                    <a:bodyPr/>
                    <a:lstStyle/>
                    <a:p>
                      <a:pPr marL="80645">
                        <a:spcBef>
                          <a:spcPts val="80"/>
                        </a:spcBef>
                        <a:spcAft>
                          <a:spcPts val="0"/>
                        </a:spcAft>
                      </a:pPr>
                      <a:endParaRPr lang="es-CO" sz="9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3355" algn="ctr">
                        <a:lnSpc>
                          <a:spcPct val="200000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</a:pPr>
                      <a:r>
                        <a:rPr lang="es-MX" sz="700" b="0" dirty="0">
                          <a:effectLst/>
                          <a:latin typeface="+mn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5</a:t>
                      </a:r>
                      <a:endParaRPr lang="es-CO" sz="700" b="0" dirty="0">
                        <a:effectLst/>
                        <a:latin typeface="+mn-lt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42545" marR="32385" algn="just">
                        <a:lnSpc>
                          <a:spcPct val="92000"/>
                        </a:lnSpc>
                        <a:spcBef>
                          <a:spcPts val="265"/>
                        </a:spcBef>
                        <a:spcAft>
                          <a:spcPts val="0"/>
                        </a:spcAft>
                      </a:pPr>
                      <a:r>
                        <a:rPr lang="es-MX" sz="800" dirty="0">
                          <a:effectLst/>
                          <a:latin typeface="+mn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Luego de ingresar los datos, debe dar clic en guardar.</a:t>
                      </a:r>
                      <a:endParaRPr lang="es-CO" sz="800" dirty="0">
                        <a:effectLst/>
                        <a:latin typeface="+mn-lt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071792732"/>
                  </a:ext>
                </a:extLst>
              </a:tr>
              <a:tr h="290212">
                <a:tc>
                  <a:txBody>
                    <a:bodyPr/>
                    <a:lstStyle/>
                    <a:p>
                      <a:pPr marL="80645">
                        <a:spcBef>
                          <a:spcPts val="80"/>
                        </a:spcBef>
                        <a:spcAft>
                          <a:spcPts val="0"/>
                        </a:spcAft>
                      </a:pPr>
                      <a:endParaRPr lang="es-CO" sz="9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3355" algn="ctr">
                        <a:lnSpc>
                          <a:spcPct val="200000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</a:pPr>
                      <a:r>
                        <a:rPr lang="es-MX" sz="700" b="0" dirty="0">
                          <a:effectLst/>
                          <a:latin typeface="+mn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6</a:t>
                      </a:r>
                      <a:endParaRPr lang="es-CO" sz="700" b="0" dirty="0">
                        <a:effectLst/>
                        <a:latin typeface="+mn-lt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42545" marR="32385" algn="just">
                        <a:lnSpc>
                          <a:spcPct val="92000"/>
                        </a:lnSpc>
                        <a:spcBef>
                          <a:spcPts val="265"/>
                        </a:spcBef>
                        <a:spcAft>
                          <a:spcPts val="0"/>
                        </a:spcAft>
                      </a:pPr>
                      <a:r>
                        <a:rPr lang="es-MX" sz="800" dirty="0">
                          <a:effectLst/>
                          <a:latin typeface="+mn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Si el empleado desea imprimir la transacción, dar </a:t>
                      </a:r>
                      <a:r>
                        <a:rPr lang="es-MX" sz="800" dirty="0" err="1">
                          <a:effectLst/>
                          <a:latin typeface="+mn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click</a:t>
                      </a:r>
                      <a:r>
                        <a:rPr lang="es-MX" sz="800" dirty="0">
                          <a:effectLst/>
                          <a:latin typeface="+mn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en informe</a:t>
                      </a:r>
                      <a:endParaRPr lang="es-CO" sz="800" dirty="0">
                        <a:effectLst/>
                        <a:latin typeface="+mn-lt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741026687"/>
                  </a:ext>
                </a:extLst>
              </a:tr>
              <a:tr h="399655">
                <a:tc>
                  <a:txBody>
                    <a:bodyPr/>
                    <a:lstStyle/>
                    <a:p>
                      <a:pPr marL="67310">
                        <a:spcBef>
                          <a:spcPts val="265"/>
                        </a:spcBef>
                        <a:spcAft>
                          <a:spcPts val="0"/>
                        </a:spcAft>
                      </a:pPr>
                      <a:r>
                        <a:rPr lang="es-CO" sz="800">
                          <a:effectLst/>
                        </a:rPr>
                        <a:t>Post Condición</a:t>
                      </a:r>
                      <a:endParaRPr lang="es-CO" sz="9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52705">
                        <a:lnSpc>
                          <a:spcPct val="92000"/>
                        </a:lnSpc>
                        <a:spcBef>
                          <a:spcPts val="15"/>
                        </a:spcBef>
                        <a:spcAft>
                          <a:spcPts val="0"/>
                        </a:spcAft>
                      </a:pPr>
                      <a:r>
                        <a:rPr lang="es-CO" sz="800" dirty="0">
                          <a:effectLst/>
                        </a:rPr>
                        <a:t> </a:t>
                      </a:r>
                      <a:endParaRPr lang="es-CO" sz="900" dirty="0">
                        <a:effectLst/>
                      </a:endParaRPr>
                    </a:p>
                    <a:p>
                      <a:pPr marL="52705">
                        <a:lnSpc>
                          <a:spcPct val="92000"/>
                        </a:lnSpc>
                        <a:spcBef>
                          <a:spcPts val="15"/>
                        </a:spcBef>
                        <a:spcAft>
                          <a:spcPts val="0"/>
                        </a:spcAft>
                      </a:pPr>
                      <a:r>
                        <a:rPr lang="es-CO" sz="800" dirty="0">
                          <a:effectLst/>
                        </a:rPr>
                        <a:t>El empleado ingresa los productos vendidos.</a:t>
                      </a:r>
                      <a:endParaRPr lang="es-CO" sz="9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6203859"/>
                  </a:ext>
                </a:extLst>
              </a:tr>
              <a:tr h="188142">
                <a:tc rowSpan="2">
                  <a:txBody>
                    <a:bodyPr/>
                    <a:lstStyle/>
                    <a:p>
                      <a:pPr marL="41275">
                        <a:lnSpc>
                          <a:spcPts val="1025"/>
                        </a:lnSpc>
                      </a:pPr>
                      <a:r>
                        <a:rPr lang="es-CO" sz="800" dirty="0">
                          <a:effectLst/>
                        </a:rPr>
                        <a:t>Excepciones</a:t>
                      </a:r>
                      <a:endParaRPr lang="es-CO" sz="9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945"/>
                        </a:lnSpc>
                      </a:pPr>
                      <a:r>
                        <a:rPr lang="es-CO" sz="700" spc="-20" dirty="0">
                          <a:effectLst/>
                        </a:rPr>
                        <a:t>Paso</a:t>
                      </a:r>
                      <a:endParaRPr lang="es-CO" sz="9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945"/>
                        </a:lnSpc>
                      </a:pPr>
                      <a:r>
                        <a:rPr lang="es-CO" sz="700" dirty="0">
                          <a:effectLst/>
                        </a:rPr>
                        <a:t> </a:t>
                      </a:r>
                      <a:endParaRPr lang="es-CO" sz="9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2581952"/>
                  </a:ext>
                </a:extLst>
              </a:tr>
              <a:tr h="472567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60"/>
                        </a:spcBef>
                      </a:pPr>
                      <a:r>
                        <a:rPr lang="es-CO" sz="1100" dirty="0">
                          <a:effectLst/>
                        </a:rPr>
                        <a:t> </a:t>
                      </a:r>
                      <a:endParaRPr lang="es-CO" sz="900" dirty="0">
                        <a:effectLst/>
                      </a:endParaRPr>
                    </a:p>
                    <a:p>
                      <a:pPr marL="168275" algn="ctr"/>
                      <a:r>
                        <a:rPr lang="es-CO" sz="7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1</a:t>
                      </a:r>
                      <a:endParaRPr lang="es-CO" sz="9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46990" marR="38735" algn="just">
                        <a:lnSpc>
                          <a:spcPct val="106000"/>
                        </a:lnSpc>
                        <a:spcBef>
                          <a:spcPts val="95"/>
                        </a:spcBef>
                        <a:spcAft>
                          <a:spcPts val="0"/>
                        </a:spcAft>
                      </a:pPr>
                      <a:r>
                        <a:rPr lang="es-CO" sz="800" dirty="0">
                          <a:effectLst/>
                        </a:rPr>
                        <a:t> </a:t>
                      </a:r>
                      <a:endParaRPr lang="es-CO" sz="900" dirty="0">
                        <a:effectLst/>
                      </a:endParaRPr>
                    </a:p>
                    <a:p>
                      <a:pPr marL="46990" marR="38735" algn="just">
                        <a:lnSpc>
                          <a:spcPct val="106000"/>
                        </a:lnSpc>
                        <a:spcBef>
                          <a:spcPts val="95"/>
                        </a:spcBef>
                        <a:spcAft>
                          <a:spcPts val="0"/>
                        </a:spcAft>
                      </a:pPr>
                      <a:r>
                        <a:rPr lang="es-CO" sz="800" dirty="0">
                          <a:effectLst/>
                        </a:rPr>
                        <a:t> Si el empleado desea hacer traslados de productos.</a:t>
                      </a:r>
                      <a:endParaRPr lang="es-CO" sz="9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095002290"/>
                  </a:ext>
                </a:extLst>
              </a:tr>
              <a:tr h="472567">
                <a:tc>
                  <a:txBody>
                    <a:bodyPr/>
                    <a:lstStyle/>
                    <a:p>
                      <a:pPr marL="41275">
                        <a:lnSpc>
                          <a:spcPts val="1025"/>
                        </a:lnSpc>
                      </a:pPr>
                      <a:endParaRPr lang="es-CO" sz="9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168275" algn="ctr">
                        <a:lnSpc>
                          <a:spcPct val="200000"/>
                        </a:lnSpc>
                      </a:pPr>
                      <a:r>
                        <a:rPr lang="es-MX" sz="900" b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2</a:t>
                      </a:r>
                      <a:endParaRPr lang="es-CO" sz="900" b="0" dirty="0">
                        <a:solidFill>
                          <a:schemeClr val="tx1"/>
                        </a:solidFill>
                        <a:effectLst/>
                        <a:latin typeface="+mn-lt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46990" marR="38735" algn="just">
                        <a:lnSpc>
                          <a:spcPct val="106000"/>
                        </a:lnSpc>
                        <a:spcBef>
                          <a:spcPts val="95"/>
                        </a:spcBef>
                        <a:spcAft>
                          <a:spcPts val="0"/>
                        </a:spcAft>
                      </a:pPr>
                      <a:r>
                        <a:rPr lang="es-MX" sz="800" dirty="0">
                          <a:effectLst/>
                          <a:latin typeface="+mn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Si el empleado quiere ver el historial de movimientos, debe dirigirse al modulo Kardex.</a:t>
                      </a:r>
                      <a:endParaRPr lang="es-CO" sz="800" dirty="0">
                        <a:effectLst/>
                        <a:latin typeface="+mn-lt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0" marR="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6704879"/>
                  </a:ext>
                </a:extLst>
              </a:tr>
            </a:tbl>
          </a:graphicData>
        </a:graphic>
      </p:graphicFrame>
      <p:sp>
        <p:nvSpPr>
          <p:cNvPr id="8" name="CuadroTexto 7">
            <a:extLst>
              <a:ext uri="{FF2B5EF4-FFF2-40B4-BE49-F238E27FC236}">
                <a16:creationId xmlns:a16="http://schemas.microsoft.com/office/drawing/2014/main" id="{58D2A415-1125-4D11-B29F-DF24149623D3}"/>
              </a:ext>
            </a:extLst>
          </p:cNvPr>
          <p:cNvSpPr txBox="1"/>
          <p:nvPr/>
        </p:nvSpPr>
        <p:spPr>
          <a:xfrm>
            <a:off x="3492137" y="776955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altLang="es-CO" sz="1800" b="1" dirty="0">
                <a:solidFill>
                  <a:srgbClr val="FA9930"/>
                </a:solidFill>
                <a:latin typeface="+mn-lt"/>
              </a:rPr>
              <a:t>Módulo gestión</a:t>
            </a:r>
            <a:r>
              <a:rPr lang="es-CO" altLang="es-CO" b="1" dirty="0">
                <a:solidFill>
                  <a:srgbClr val="FA9930"/>
                </a:solidFill>
              </a:rPr>
              <a:t> de inventarios </a:t>
            </a:r>
          </a:p>
          <a:p>
            <a:r>
              <a:rPr lang="es-CO" b="1" dirty="0">
                <a:solidFill>
                  <a:srgbClr val="FA9930"/>
                </a:solidFill>
              </a:rPr>
              <a:t>Parte2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27201275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Marcador de contenido 5">
            <a:extLst>
              <a:ext uri="{FF2B5EF4-FFF2-40B4-BE49-F238E27FC236}">
                <a16:creationId xmlns:a16="http://schemas.microsoft.com/office/drawing/2014/main" id="{13641926-9A9C-410A-95FB-EA8298CEEA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1460" y="357808"/>
            <a:ext cx="5289550" cy="3778250"/>
          </a:xfrm>
        </p:spPr>
      </p:pic>
    </p:spTree>
    <p:extLst>
      <p:ext uri="{BB962C8B-B14F-4D97-AF65-F5344CB8AC3E}">
        <p14:creationId xmlns:p14="http://schemas.microsoft.com/office/powerpoint/2010/main" val="3894824859"/>
      </p:ext>
    </p:extLst>
  </p:cSld>
  <p:clrMapOvr>
    <a:masterClrMapping/>
  </p:clrMapOvr>
</p:sld>
</file>

<file path=ppt/theme/theme1.xml><?xml version="1.0" encoding="utf-8"?>
<a:theme xmlns:a="http://schemas.openxmlformats.org/drawingml/2006/main" name="Espiral">
  <a:themeElements>
    <a:clrScheme name="Espiral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Espiral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Espiral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1400</TotalTime>
  <Words>2406</Words>
  <Application>Microsoft Office PowerPoint</Application>
  <PresentationFormat>Panorámica</PresentationFormat>
  <Paragraphs>538</Paragraphs>
  <Slides>30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30</vt:i4>
      </vt:variant>
    </vt:vector>
  </HeadingPairs>
  <TitlesOfParts>
    <vt:vector size="37" baseType="lpstr">
      <vt:lpstr>Arial</vt:lpstr>
      <vt:lpstr>Calibri</vt:lpstr>
      <vt:lpstr>Calibri  </vt:lpstr>
      <vt:lpstr>Century Gothic</vt:lpstr>
      <vt:lpstr>Verdana</vt:lpstr>
      <vt:lpstr>Wingdings 3</vt:lpstr>
      <vt:lpstr>Espiral</vt:lpstr>
      <vt:lpstr>Documentación y diagramas de secuencias</vt:lpstr>
      <vt:lpstr>Presentación de PowerPoint</vt:lpstr>
      <vt:lpstr>Módulo empleados</vt:lpstr>
      <vt:lpstr>Presentación de PowerPoint</vt:lpstr>
      <vt:lpstr>Presentación de PowerPoint</vt:lpstr>
      <vt:lpstr>Presentación de PowerPoint</vt:lpstr>
      <vt:lpstr>Módulo empleados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Módulo productos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Angie Buitrago</dc:creator>
  <cp:lastModifiedBy>Angie Buitrago</cp:lastModifiedBy>
  <cp:revision>25</cp:revision>
  <dcterms:created xsi:type="dcterms:W3CDTF">2021-09-02T02:19:32Z</dcterms:created>
  <dcterms:modified xsi:type="dcterms:W3CDTF">2021-11-01T05:52:16Z</dcterms:modified>
</cp:coreProperties>
</file>